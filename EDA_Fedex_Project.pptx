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81" r:id="rId3"/>
    <p:sldId id="257" r:id="rId4"/>
    <p:sldId id="282" r:id="rId5"/>
    <p:sldId id="283" r:id="rId6"/>
    <p:sldId id="284" r:id="rId7"/>
    <p:sldId id="258" r:id="rId8"/>
    <p:sldId id="285" r:id="rId9"/>
    <p:sldId id="286" r:id="rId10"/>
    <p:sldId id="287" r:id="rId11"/>
    <p:sldId id="288" r:id="rId12"/>
    <p:sldId id="289" r:id="rId13"/>
    <p:sldId id="290" r:id="rId14"/>
    <p:sldId id="291" r:id="rId15"/>
    <p:sldId id="292" r:id="rId16"/>
    <p:sldId id="293" r:id="rId17"/>
    <p:sldId id="263" r:id="rId18"/>
    <p:sldId id="264" r:id="rId19"/>
    <p:sldId id="294" r:id="rId20"/>
    <p:sldId id="295" r:id="rId21"/>
    <p:sldId id="296" r:id="rId22"/>
    <p:sldId id="297" r:id="rId23"/>
    <p:sldId id="265" r:id="rId24"/>
    <p:sldId id="298" r:id="rId25"/>
    <p:sldId id="299" r:id="rId26"/>
    <p:sldId id="300" r:id="rId27"/>
    <p:sldId id="266" r:id="rId28"/>
    <p:sldId id="301" r:id="rId29"/>
    <p:sldId id="268" r:id="rId30"/>
    <p:sldId id="280" r:id="rId31"/>
    <p:sldId id="302" r:id="rId32"/>
  </p:sldIdLst>
  <p:sldSz cx="9144000" cy="5143500" type="screen16x9"/>
  <p:notesSz cx="6858000" cy="9144000"/>
  <p:embeddedFontLst>
    <p:embeddedFont>
      <p:font typeface="Nunito"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b25f7b25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b25f7b25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b25f7b251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b25f7b251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b25f7b251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b25f7b251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b25f7b251e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b25f7b251e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b25f7b251e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b25f7b251e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b25f7b251e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b25f7b251e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b25f7b251e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b25f7b251e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b25f7b251e_1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b25f7b251e_1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a:t>FedEx Logistics Performance Analysis - Delivery History Dataset</a:t>
            </a:r>
            <a:endParaRPr/>
          </a:p>
        </p:txBody>
      </p:sp>
      <p:sp>
        <p:nvSpPr>
          <p:cNvPr id="129" name="Google Shape;129;p13"/>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a:t>Exploratory Data Analysis (EDA)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FD4F9-BA78-7A7C-7DE1-2816AE67D6C4}"/>
              </a:ext>
            </a:extLst>
          </p:cNvPr>
          <p:cNvSpPr>
            <a:spLocks noGrp="1"/>
          </p:cNvSpPr>
          <p:nvPr>
            <p:ph type="title"/>
          </p:nvPr>
        </p:nvSpPr>
        <p:spPr>
          <a:xfrm>
            <a:off x="749567" y="491139"/>
            <a:ext cx="2942527" cy="514849"/>
          </a:xfrm>
        </p:spPr>
        <p:txBody>
          <a:bodyPr>
            <a:normAutofit fontScale="90000"/>
          </a:bodyPr>
          <a:lstStyle/>
          <a:p>
            <a:r>
              <a:rPr lang="en-IN"/>
              <a:t>INTRODUCTION</a:t>
            </a:r>
          </a:p>
        </p:txBody>
      </p:sp>
      <p:sp>
        <p:nvSpPr>
          <p:cNvPr id="3" name="TextBox 2">
            <a:extLst>
              <a:ext uri="{FF2B5EF4-FFF2-40B4-BE49-F238E27FC236}">
                <a16:creationId xmlns:a16="http://schemas.microsoft.com/office/drawing/2014/main" id="{816D06D3-D064-ECB4-798C-37BA86F2CB4A}"/>
              </a:ext>
            </a:extLst>
          </p:cNvPr>
          <p:cNvSpPr txBox="1"/>
          <p:nvPr/>
        </p:nvSpPr>
        <p:spPr>
          <a:xfrm>
            <a:off x="749566" y="1045155"/>
            <a:ext cx="7187425" cy="328404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t>This project analyzes the </a:t>
            </a:r>
            <a:r>
              <a:rPr lang="en-US" b="1"/>
              <a:t>SCMS Delivery History dataset</a:t>
            </a:r>
            <a:r>
              <a:rPr lang="en-US"/>
              <a:t> to understand shipment patterns, freight costs, and delivery performance in a global supply chain.</a:t>
            </a:r>
          </a:p>
          <a:p>
            <a:pPr marL="285750" indent="-285750">
              <a:lnSpc>
                <a:spcPct val="150000"/>
              </a:lnSpc>
              <a:buFont typeface="Arial" panose="020B0604020202020204" pitchFamily="34" charset="0"/>
              <a:buChar char="•"/>
            </a:pPr>
            <a:r>
              <a:rPr lang="en-US"/>
              <a:t>The analysis focuses on identifying </a:t>
            </a:r>
            <a:r>
              <a:rPr lang="en-US" b="1"/>
              <a:t>key cost drivers</a:t>
            </a:r>
            <a:r>
              <a:rPr lang="en-US"/>
              <a:t> such as shipment mode, weight, quantity, and delivery timelines.</a:t>
            </a:r>
          </a:p>
          <a:p>
            <a:pPr marL="285750" indent="-285750">
              <a:lnSpc>
                <a:spcPct val="150000"/>
              </a:lnSpc>
              <a:buFont typeface="Arial" panose="020B0604020202020204" pitchFamily="34" charset="0"/>
              <a:buChar char="•"/>
            </a:pPr>
            <a:r>
              <a:rPr lang="en-US"/>
              <a:t>Exploratory Data Analysis (EDA) techniques were used to uncover </a:t>
            </a:r>
            <a:r>
              <a:rPr lang="en-US" b="1"/>
              <a:t>trends, distributions, and relationships</a:t>
            </a:r>
            <a:r>
              <a:rPr lang="en-US"/>
              <a:t> within logistics data.</a:t>
            </a:r>
          </a:p>
          <a:p>
            <a:pPr marL="285750" indent="-285750">
              <a:lnSpc>
                <a:spcPct val="150000"/>
              </a:lnSpc>
              <a:buFont typeface="Arial" panose="020B0604020202020204" pitchFamily="34" charset="0"/>
              <a:buChar char="•"/>
            </a:pPr>
            <a:r>
              <a:rPr lang="en-US"/>
              <a:t>Multiple visualization methods were applied to support </a:t>
            </a:r>
            <a:r>
              <a:rPr lang="en-US" b="1"/>
              <a:t>data-driven insights and business decision-making</a:t>
            </a:r>
            <a:r>
              <a:rPr lang="en-US"/>
              <a:t>.</a:t>
            </a:r>
          </a:p>
          <a:p>
            <a:pPr marL="285750" indent="-285750">
              <a:lnSpc>
                <a:spcPct val="150000"/>
              </a:lnSpc>
              <a:buFont typeface="Arial" panose="020B0604020202020204" pitchFamily="34" charset="0"/>
              <a:buChar char="•"/>
            </a:pPr>
            <a:r>
              <a:rPr lang="en-US"/>
              <a:t>The goal of the project is to provide </a:t>
            </a:r>
            <a:r>
              <a:rPr lang="en-US" b="1"/>
              <a:t>actionable insights</a:t>
            </a:r>
            <a:r>
              <a:rPr lang="en-US"/>
              <a:t> that can help optimize logistics efficiency, reduce costs, and improve delivery reliability.</a:t>
            </a:r>
            <a:endParaRPr lang="en-IN"/>
          </a:p>
        </p:txBody>
      </p:sp>
    </p:spTree>
    <p:extLst>
      <p:ext uri="{BB962C8B-B14F-4D97-AF65-F5344CB8AC3E}">
        <p14:creationId xmlns:p14="http://schemas.microsoft.com/office/powerpoint/2010/main" val="48610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528608"/>
            <a:ext cx="7505700" cy="954600"/>
          </a:xfrm>
          <a:prstGeom prst="rect">
            <a:avLst/>
          </a:prstGeom>
        </p:spPr>
        <p:txBody>
          <a:bodyPr spcFirstLastPara="1" wrap="square" lIns="91425" tIns="91425" rIns="91425" bIns="91425" anchor="t" anchorCtr="0">
            <a:normAutofit/>
          </a:bodyPr>
          <a:lstStyle/>
          <a:p>
            <a:pPr lvl="0"/>
            <a:r>
              <a:rPr lang="en-IN"/>
              <a:t>DATASET OVERVIEW</a:t>
            </a:r>
            <a:endParaRPr/>
          </a:p>
        </p:txBody>
      </p:sp>
      <p:sp>
        <p:nvSpPr>
          <p:cNvPr id="135" name="Google Shape;135;p14"/>
          <p:cNvSpPr txBox="1">
            <a:spLocks noGrp="1"/>
          </p:cNvSpPr>
          <p:nvPr>
            <p:ph type="body" idx="1"/>
          </p:nvPr>
        </p:nvSpPr>
        <p:spPr>
          <a:xfrm>
            <a:off x="819150" y="1576196"/>
            <a:ext cx="7093458" cy="2849499"/>
          </a:xfrm>
          <a:prstGeom prst="rect">
            <a:avLst/>
          </a:prstGeom>
        </p:spPr>
        <p:txBody>
          <a:bodyPr spcFirstLastPara="1" wrap="square" lIns="91425" tIns="91425" rIns="91425" bIns="91425" anchor="t" anchorCtr="0">
            <a:normAutofit/>
          </a:bodyPr>
          <a:lstStyle/>
          <a:p>
            <a:pPr marL="285750" indent="-285750">
              <a:spcBef>
                <a:spcPts val="1200"/>
              </a:spcBef>
              <a:spcAft>
                <a:spcPts val="1200"/>
              </a:spcAft>
            </a:pPr>
            <a:r>
              <a:rPr lang="en-US" sz="1400"/>
              <a:t>The dataset used is the </a:t>
            </a:r>
            <a:r>
              <a:rPr lang="en-US" sz="1400" b="1"/>
              <a:t>SCMS (Supply Chain Management System) Delivery History dataset</a:t>
            </a:r>
            <a:r>
              <a:rPr lang="en-US" sz="1400"/>
              <a:t>, which contains real-world logistics and shipment records.</a:t>
            </a:r>
          </a:p>
          <a:p>
            <a:pPr marL="285750" indent="-285750">
              <a:spcBef>
                <a:spcPts val="1200"/>
              </a:spcBef>
              <a:spcAft>
                <a:spcPts val="1200"/>
              </a:spcAft>
            </a:pPr>
            <a:r>
              <a:rPr lang="en-US" sz="1400"/>
              <a:t>It consists of </a:t>
            </a:r>
            <a:r>
              <a:rPr lang="en-US" sz="1400" b="1"/>
              <a:t>10,000+ rows and 33 columns</a:t>
            </a:r>
            <a:r>
              <a:rPr lang="en-US" sz="1400"/>
              <a:t>, representing detailed information about global shipments.</a:t>
            </a:r>
          </a:p>
          <a:p>
            <a:pPr marL="285750" indent="-285750">
              <a:spcBef>
                <a:spcPts val="1200"/>
              </a:spcBef>
              <a:spcAft>
                <a:spcPts val="1200"/>
              </a:spcAft>
            </a:pPr>
            <a:r>
              <a:rPr lang="en-US" sz="1400"/>
              <a:t>The data includes key attributes such as </a:t>
            </a:r>
            <a:r>
              <a:rPr lang="en-US" sz="1400" b="1"/>
              <a:t>Country, Shipment Mode, Vendor, Fulfill Via, Weight, Freight Cost, and Line Item Value</a:t>
            </a:r>
            <a:r>
              <a:rPr lang="en-US" sz="1400"/>
              <a:t>.</a:t>
            </a:r>
            <a:endParaRPr lang="en-IN"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AA6C6-D414-538D-A2C8-01BB67F7780E}"/>
              </a:ext>
            </a:extLst>
          </p:cNvPr>
          <p:cNvSpPr>
            <a:spLocks noGrp="1"/>
          </p:cNvSpPr>
          <p:nvPr>
            <p:ph type="title"/>
          </p:nvPr>
        </p:nvSpPr>
        <p:spPr>
          <a:xfrm>
            <a:off x="819150" y="565184"/>
            <a:ext cx="7505700" cy="593056"/>
          </a:xfrm>
        </p:spPr>
        <p:txBody>
          <a:bodyPr>
            <a:normAutofit fontScale="90000"/>
          </a:bodyPr>
          <a:lstStyle/>
          <a:p>
            <a:r>
              <a:rPr lang="en-IN"/>
              <a:t>PROBLEM STATEMENT</a:t>
            </a:r>
          </a:p>
        </p:txBody>
      </p:sp>
      <p:sp>
        <p:nvSpPr>
          <p:cNvPr id="4" name="TextBox 3">
            <a:extLst>
              <a:ext uri="{FF2B5EF4-FFF2-40B4-BE49-F238E27FC236}">
                <a16:creationId xmlns:a16="http://schemas.microsoft.com/office/drawing/2014/main" id="{FBA49808-5443-4D9E-81AB-770C0E6F3C8D}"/>
              </a:ext>
            </a:extLst>
          </p:cNvPr>
          <p:cNvSpPr txBox="1"/>
          <p:nvPr/>
        </p:nvSpPr>
        <p:spPr>
          <a:xfrm>
            <a:off x="694944" y="1316736"/>
            <a:ext cx="6998208" cy="2677656"/>
          </a:xfrm>
          <a:prstGeom prst="rect">
            <a:avLst/>
          </a:prstGeom>
          <a:noFill/>
        </p:spPr>
        <p:txBody>
          <a:bodyPr wrap="square" rtlCol="0">
            <a:spAutoFit/>
          </a:bodyPr>
          <a:lstStyle/>
          <a:p>
            <a:pPr marL="285750" indent="-285750">
              <a:buFont typeface="Arial" panose="020B0604020202020204" pitchFamily="34" charset="0"/>
              <a:buChar char="•"/>
            </a:pPr>
            <a:r>
              <a:rPr lang="en-US"/>
              <a:t>Global logistics operations generate large volumes of shipment data, but </a:t>
            </a:r>
            <a:r>
              <a:rPr lang="en-US" b="1"/>
              <a:t>key cost drivers and inefficiencies are often not clearly understood</a:t>
            </a:r>
            <a:r>
              <a:rPr lang="en-US"/>
              <a: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Freight costs and delivery delays vary across </a:t>
            </a:r>
            <a:r>
              <a:rPr lang="en-US" b="1"/>
              <a:t>shipment modes, countries, and vendors</a:t>
            </a:r>
            <a:r>
              <a:rPr lang="en-US"/>
              <a:t>, making it difficult to identify optimal logistics strategies.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Organizations lack clear visibility into </a:t>
            </a:r>
            <a:r>
              <a:rPr lang="en-US" b="1"/>
              <a:t>which factors most influence freight cost and delivery performance</a:t>
            </a:r>
            <a:r>
              <a:rPr lang="en-US"/>
              <a: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Without proper analysis, it becomes challenging to </a:t>
            </a:r>
            <a:r>
              <a:rPr lang="en-US" b="1"/>
              <a:t>optimize shipment modes, control logistics expenses, and improve delivery reliability</a:t>
            </a:r>
            <a:r>
              <a:rPr lang="en-US"/>
              <a:t>.</a:t>
            </a:r>
          </a:p>
          <a:p>
            <a:pPr marL="285750" indent="-285750">
              <a:buFont typeface="Arial" panose="020B0604020202020204" pitchFamily="34" charset="0"/>
              <a:buChar char="•"/>
            </a:pPr>
            <a:endParaRPr lang="en-IN"/>
          </a:p>
        </p:txBody>
      </p:sp>
    </p:spTree>
    <p:extLst>
      <p:ext uri="{BB962C8B-B14F-4D97-AF65-F5344CB8AC3E}">
        <p14:creationId xmlns:p14="http://schemas.microsoft.com/office/powerpoint/2010/main" val="19612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1167-3516-C617-1EE6-646596865C9E}"/>
              </a:ext>
            </a:extLst>
          </p:cNvPr>
          <p:cNvSpPr>
            <a:spLocks noGrp="1"/>
          </p:cNvSpPr>
          <p:nvPr>
            <p:ph type="title"/>
          </p:nvPr>
        </p:nvSpPr>
        <p:spPr>
          <a:xfrm>
            <a:off x="587502" y="662720"/>
            <a:ext cx="7505700" cy="544288"/>
          </a:xfrm>
        </p:spPr>
        <p:txBody>
          <a:bodyPr>
            <a:normAutofit fontScale="90000"/>
          </a:bodyPr>
          <a:lstStyle/>
          <a:p>
            <a:r>
              <a:rPr lang="en-IN"/>
              <a:t>READING DATASET</a:t>
            </a:r>
          </a:p>
        </p:txBody>
      </p:sp>
      <p:pic>
        <p:nvPicPr>
          <p:cNvPr id="5" name="Picture 4">
            <a:extLst>
              <a:ext uri="{FF2B5EF4-FFF2-40B4-BE49-F238E27FC236}">
                <a16:creationId xmlns:a16="http://schemas.microsoft.com/office/drawing/2014/main" id="{8B8A5438-675B-C47C-E2F6-0B2E0033172C}"/>
              </a:ext>
            </a:extLst>
          </p:cNvPr>
          <p:cNvPicPr>
            <a:picLocks noChangeAspect="1"/>
          </p:cNvPicPr>
          <p:nvPr/>
        </p:nvPicPr>
        <p:blipFill>
          <a:blip r:embed="rId2"/>
          <a:stretch>
            <a:fillRect/>
          </a:stretch>
        </p:blipFill>
        <p:spPr>
          <a:xfrm>
            <a:off x="587502" y="1327374"/>
            <a:ext cx="3340175" cy="2029119"/>
          </a:xfrm>
          <a:prstGeom prst="rect">
            <a:avLst/>
          </a:prstGeom>
        </p:spPr>
      </p:pic>
      <p:pic>
        <p:nvPicPr>
          <p:cNvPr id="9" name="Picture 8">
            <a:extLst>
              <a:ext uri="{FF2B5EF4-FFF2-40B4-BE49-F238E27FC236}">
                <a16:creationId xmlns:a16="http://schemas.microsoft.com/office/drawing/2014/main" id="{EEE4B20A-6D0D-DB50-1BED-067D4BEFEB10}"/>
              </a:ext>
            </a:extLst>
          </p:cNvPr>
          <p:cNvPicPr>
            <a:picLocks noChangeAspect="1"/>
          </p:cNvPicPr>
          <p:nvPr/>
        </p:nvPicPr>
        <p:blipFill>
          <a:blip r:embed="rId3"/>
          <a:stretch>
            <a:fillRect/>
          </a:stretch>
        </p:blipFill>
        <p:spPr>
          <a:xfrm>
            <a:off x="447099" y="3494782"/>
            <a:ext cx="8249801" cy="1152686"/>
          </a:xfrm>
          <a:prstGeom prst="rect">
            <a:avLst/>
          </a:prstGeom>
        </p:spPr>
      </p:pic>
      <p:sp>
        <p:nvSpPr>
          <p:cNvPr id="10" name="TextBox 9">
            <a:extLst>
              <a:ext uri="{FF2B5EF4-FFF2-40B4-BE49-F238E27FC236}">
                <a16:creationId xmlns:a16="http://schemas.microsoft.com/office/drawing/2014/main" id="{7DAD19E9-9B0E-76FE-855F-87E9A321B855}"/>
              </a:ext>
            </a:extLst>
          </p:cNvPr>
          <p:cNvSpPr txBox="1"/>
          <p:nvPr/>
        </p:nvSpPr>
        <p:spPr>
          <a:xfrm>
            <a:off x="4120896" y="1408066"/>
            <a:ext cx="3864863" cy="134504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t>The dataset was loaded into Python using the </a:t>
            </a:r>
            <a:r>
              <a:rPr lang="en-US" b="1"/>
              <a:t>Pandas library (read_csv)</a:t>
            </a:r>
            <a:r>
              <a:rPr lang="en-US"/>
              <a:t>, which allows efficient handling and analysis of large tabular data.</a:t>
            </a:r>
            <a:endParaRPr lang="en-IN"/>
          </a:p>
        </p:txBody>
      </p:sp>
    </p:spTree>
    <p:extLst>
      <p:ext uri="{BB962C8B-B14F-4D97-AF65-F5344CB8AC3E}">
        <p14:creationId xmlns:p14="http://schemas.microsoft.com/office/powerpoint/2010/main" val="70382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095D4-9EA3-25E0-75BD-1FBBE17EB702}"/>
              </a:ext>
            </a:extLst>
          </p:cNvPr>
          <p:cNvSpPr>
            <a:spLocks noGrp="1"/>
          </p:cNvSpPr>
          <p:nvPr>
            <p:ph type="title"/>
          </p:nvPr>
        </p:nvSpPr>
        <p:spPr>
          <a:xfrm>
            <a:off x="819150" y="699296"/>
            <a:ext cx="3167634" cy="556480"/>
          </a:xfrm>
        </p:spPr>
        <p:txBody>
          <a:bodyPr>
            <a:normAutofit fontScale="90000"/>
          </a:bodyPr>
          <a:lstStyle/>
          <a:p>
            <a:r>
              <a:rPr lang="en-IN"/>
              <a:t>DATA SET</a:t>
            </a:r>
          </a:p>
        </p:txBody>
      </p:sp>
      <p:pic>
        <p:nvPicPr>
          <p:cNvPr id="5" name="Picture 4">
            <a:extLst>
              <a:ext uri="{FF2B5EF4-FFF2-40B4-BE49-F238E27FC236}">
                <a16:creationId xmlns:a16="http://schemas.microsoft.com/office/drawing/2014/main" id="{66FBD8C4-4B48-3198-584A-FC13349B0DDF}"/>
              </a:ext>
            </a:extLst>
          </p:cNvPr>
          <p:cNvPicPr>
            <a:picLocks noChangeAspect="1"/>
          </p:cNvPicPr>
          <p:nvPr/>
        </p:nvPicPr>
        <p:blipFill>
          <a:blip r:embed="rId2"/>
          <a:stretch>
            <a:fillRect/>
          </a:stretch>
        </p:blipFill>
        <p:spPr>
          <a:xfrm>
            <a:off x="611886" y="1340739"/>
            <a:ext cx="7593330" cy="3158490"/>
          </a:xfrm>
          <a:prstGeom prst="rect">
            <a:avLst/>
          </a:prstGeom>
        </p:spPr>
      </p:pic>
    </p:spTree>
    <p:extLst>
      <p:ext uri="{BB962C8B-B14F-4D97-AF65-F5344CB8AC3E}">
        <p14:creationId xmlns:p14="http://schemas.microsoft.com/office/powerpoint/2010/main" val="1231073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Dataset Rows and Columns Count</a:t>
            </a:r>
            <a:endParaRPr/>
          </a:p>
        </p:txBody>
      </p:sp>
      <p:sp>
        <p:nvSpPr>
          <p:cNvPr id="142" name="Google Shape;142;p1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a:t>Number of rows: 10,324</a:t>
            </a:r>
            <a:endParaRPr/>
          </a:p>
          <a:p>
            <a:pPr marL="0" lvl="0" indent="0" algn="l" rtl="0">
              <a:spcBef>
                <a:spcPts val="1200"/>
              </a:spcBef>
              <a:spcAft>
                <a:spcPts val="0"/>
              </a:spcAft>
              <a:buClr>
                <a:schemeClr val="dk1"/>
              </a:buClr>
              <a:buSzPts val="1100"/>
              <a:buFont typeface="Arial"/>
              <a:buNone/>
            </a:pPr>
            <a:r>
              <a:rPr lang="en-GB"/>
              <a:t>Number of columns: 33</a:t>
            </a:r>
            <a:endParaRPr/>
          </a:p>
          <a:p>
            <a:pPr marL="0" lvl="0" indent="0" algn="l" rtl="0">
              <a:spcBef>
                <a:spcPts val="1200"/>
              </a:spcBef>
              <a:spcAft>
                <a:spcPts val="1200"/>
              </a:spcAft>
              <a:buNone/>
            </a:pPr>
            <a:endParaRPr/>
          </a:p>
        </p:txBody>
      </p:sp>
      <p:pic>
        <p:nvPicPr>
          <p:cNvPr id="4" name="Picture 3">
            <a:extLst>
              <a:ext uri="{FF2B5EF4-FFF2-40B4-BE49-F238E27FC236}">
                <a16:creationId xmlns:a16="http://schemas.microsoft.com/office/drawing/2014/main" id="{63318B02-E69C-58F8-E064-21B15AE9EB68}"/>
              </a:ext>
            </a:extLst>
          </p:cNvPr>
          <p:cNvPicPr>
            <a:picLocks noChangeAspect="1"/>
          </p:cNvPicPr>
          <p:nvPr/>
        </p:nvPicPr>
        <p:blipFill>
          <a:blip r:embed="rId3"/>
          <a:stretch>
            <a:fillRect/>
          </a:stretch>
        </p:blipFill>
        <p:spPr>
          <a:xfrm>
            <a:off x="2808019" y="1677217"/>
            <a:ext cx="5725324" cy="23434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1AAD3-B15F-408A-F9FF-62B1E7917F68}"/>
              </a:ext>
            </a:extLst>
          </p:cNvPr>
          <p:cNvSpPr>
            <a:spLocks noGrp="1"/>
          </p:cNvSpPr>
          <p:nvPr>
            <p:ph type="title"/>
          </p:nvPr>
        </p:nvSpPr>
        <p:spPr>
          <a:xfrm>
            <a:off x="453390" y="704775"/>
            <a:ext cx="5459730" cy="568672"/>
          </a:xfrm>
        </p:spPr>
        <p:txBody>
          <a:bodyPr>
            <a:normAutofit fontScale="90000"/>
          </a:bodyPr>
          <a:lstStyle/>
          <a:p>
            <a:r>
              <a:rPr lang="en-IN"/>
              <a:t>CHECK DATA STRUCTURE </a:t>
            </a:r>
          </a:p>
        </p:txBody>
      </p:sp>
      <p:pic>
        <p:nvPicPr>
          <p:cNvPr id="8" name="Picture 7">
            <a:extLst>
              <a:ext uri="{FF2B5EF4-FFF2-40B4-BE49-F238E27FC236}">
                <a16:creationId xmlns:a16="http://schemas.microsoft.com/office/drawing/2014/main" id="{0D1792E2-9BBA-213C-AE9B-2F691B8BA307}"/>
              </a:ext>
            </a:extLst>
          </p:cNvPr>
          <p:cNvPicPr>
            <a:picLocks noChangeAspect="1"/>
          </p:cNvPicPr>
          <p:nvPr/>
        </p:nvPicPr>
        <p:blipFill>
          <a:blip r:embed="rId2"/>
          <a:stretch>
            <a:fillRect/>
          </a:stretch>
        </p:blipFill>
        <p:spPr>
          <a:xfrm>
            <a:off x="646176" y="1273447"/>
            <a:ext cx="3823164" cy="3353986"/>
          </a:xfrm>
          <a:prstGeom prst="rect">
            <a:avLst/>
          </a:prstGeom>
        </p:spPr>
      </p:pic>
      <p:pic>
        <p:nvPicPr>
          <p:cNvPr id="10" name="Picture 9">
            <a:extLst>
              <a:ext uri="{FF2B5EF4-FFF2-40B4-BE49-F238E27FC236}">
                <a16:creationId xmlns:a16="http://schemas.microsoft.com/office/drawing/2014/main" id="{F3D72C39-C0AB-63B9-D036-E97EE942EA17}"/>
              </a:ext>
            </a:extLst>
          </p:cNvPr>
          <p:cNvPicPr>
            <a:picLocks noChangeAspect="1"/>
          </p:cNvPicPr>
          <p:nvPr/>
        </p:nvPicPr>
        <p:blipFill>
          <a:blip r:embed="rId3"/>
          <a:stretch>
            <a:fillRect/>
          </a:stretch>
        </p:blipFill>
        <p:spPr>
          <a:xfrm>
            <a:off x="4674662" y="1273447"/>
            <a:ext cx="3723063" cy="3353986"/>
          </a:xfrm>
          <a:prstGeom prst="rect">
            <a:avLst/>
          </a:prstGeom>
        </p:spPr>
      </p:pic>
    </p:spTree>
    <p:extLst>
      <p:ext uri="{BB962C8B-B14F-4D97-AF65-F5344CB8AC3E}">
        <p14:creationId xmlns:p14="http://schemas.microsoft.com/office/powerpoint/2010/main" val="3163561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43AED7-93C0-5B34-B31F-9E67232D24CC}"/>
              </a:ext>
            </a:extLst>
          </p:cNvPr>
          <p:cNvPicPr>
            <a:picLocks noChangeAspect="1"/>
          </p:cNvPicPr>
          <p:nvPr/>
        </p:nvPicPr>
        <p:blipFill>
          <a:blip r:embed="rId2"/>
          <a:stretch>
            <a:fillRect/>
          </a:stretch>
        </p:blipFill>
        <p:spPr>
          <a:xfrm>
            <a:off x="669409" y="1345837"/>
            <a:ext cx="7505701" cy="3178340"/>
          </a:xfrm>
          <a:prstGeom prst="rect">
            <a:avLst/>
          </a:prstGeom>
        </p:spPr>
      </p:pic>
      <p:sp>
        <p:nvSpPr>
          <p:cNvPr id="2" name="Title 1">
            <a:extLst>
              <a:ext uri="{FF2B5EF4-FFF2-40B4-BE49-F238E27FC236}">
                <a16:creationId xmlns:a16="http://schemas.microsoft.com/office/drawing/2014/main" id="{4DAA8209-B9B1-D67F-2922-325D83932D98}"/>
              </a:ext>
            </a:extLst>
          </p:cNvPr>
          <p:cNvSpPr>
            <a:spLocks noGrp="1"/>
          </p:cNvSpPr>
          <p:nvPr>
            <p:ph type="title"/>
          </p:nvPr>
        </p:nvSpPr>
        <p:spPr>
          <a:xfrm>
            <a:off x="819075" y="704775"/>
            <a:ext cx="7505700" cy="568672"/>
          </a:xfrm>
        </p:spPr>
        <p:txBody>
          <a:bodyPr>
            <a:normAutofit fontScale="90000"/>
          </a:bodyPr>
          <a:lstStyle/>
          <a:p>
            <a:r>
              <a:rPr lang="en-IN"/>
              <a:t>CLEANING  VARIABLES</a:t>
            </a:r>
            <a:br>
              <a:rPr lang="en-IN"/>
            </a:br>
            <a:endParaRPr lang="en-IN"/>
          </a:p>
        </p:txBody>
      </p:sp>
    </p:spTree>
    <p:extLst>
      <p:ext uri="{BB962C8B-B14F-4D97-AF65-F5344CB8AC3E}">
        <p14:creationId xmlns:p14="http://schemas.microsoft.com/office/powerpoint/2010/main" val="419186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screenshot of a computer program&#10;&#10;AI-generated content may be incorrect.">
            <a:extLst>
              <a:ext uri="{FF2B5EF4-FFF2-40B4-BE49-F238E27FC236}">
                <a16:creationId xmlns:a16="http://schemas.microsoft.com/office/drawing/2014/main" id="{9A849069-BD5E-4B71-5DDF-CE7093E1F7FD}"/>
              </a:ext>
            </a:extLst>
          </p:cNvPr>
          <p:cNvPicPr>
            <a:picLocks noChangeAspect="1"/>
          </p:cNvPicPr>
          <p:nvPr/>
        </p:nvPicPr>
        <p:blipFill>
          <a:blip r:embed="rId2"/>
          <a:stretch>
            <a:fillRect/>
          </a:stretch>
        </p:blipFill>
        <p:spPr>
          <a:xfrm>
            <a:off x="456183" y="401955"/>
            <a:ext cx="7358889" cy="4339590"/>
          </a:xfrm>
          <a:prstGeom prst="rect">
            <a:avLst/>
          </a:prstGeom>
        </p:spPr>
      </p:pic>
    </p:spTree>
    <p:extLst>
      <p:ext uri="{BB962C8B-B14F-4D97-AF65-F5344CB8AC3E}">
        <p14:creationId xmlns:p14="http://schemas.microsoft.com/office/powerpoint/2010/main" val="4036303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B8567-D30E-BD9A-22EF-E50260A30874}"/>
              </a:ext>
            </a:extLst>
          </p:cNvPr>
          <p:cNvSpPr>
            <a:spLocks noGrp="1"/>
          </p:cNvSpPr>
          <p:nvPr>
            <p:ph type="title"/>
          </p:nvPr>
        </p:nvSpPr>
        <p:spPr>
          <a:xfrm>
            <a:off x="453390" y="443264"/>
            <a:ext cx="7505700" cy="954600"/>
          </a:xfrm>
        </p:spPr>
        <p:txBody>
          <a:bodyPr/>
          <a:lstStyle/>
          <a:p>
            <a:r>
              <a:rPr lang="en-IN"/>
              <a:t>DATA WRANGLING</a:t>
            </a:r>
          </a:p>
        </p:txBody>
      </p:sp>
      <p:pic>
        <p:nvPicPr>
          <p:cNvPr id="6" name="Picture 5" descr="A screenshot of a computer code&#10;&#10;AI-generated content may be incorrect.">
            <a:extLst>
              <a:ext uri="{FF2B5EF4-FFF2-40B4-BE49-F238E27FC236}">
                <a16:creationId xmlns:a16="http://schemas.microsoft.com/office/drawing/2014/main" id="{F1125558-D402-997E-496A-6A0FC8979389}"/>
              </a:ext>
            </a:extLst>
          </p:cNvPr>
          <p:cNvPicPr>
            <a:picLocks noChangeAspect="1"/>
          </p:cNvPicPr>
          <p:nvPr/>
        </p:nvPicPr>
        <p:blipFill>
          <a:blip r:embed="rId2"/>
          <a:stretch>
            <a:fillRect/>
          </a:stretch>
        </p:blipFill>
        <p:spPr>
          <a:xfrm>
            <a:off x="721614" y="1101784"/>
            <a:ext cx="5240274" cy="3598452"/>
          </a:xfrm>
          <a:prstGeom prst="rect">
            <a:avLst/>
          </a:prstGeom>
        </p:spPr>
      </p:pic>
    </p:spTree>
    <p:extLst>
      <p:ext uri="{BB962C8B-B14F-4D97-AF65-F5344CB8AC3E}">
        <p14:creationId xmlns:p14="http://schemas.microsoft.com/office/powerpoint/2010/main" val="1502888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BC13-1C83-F383-D072-7B6B0A72E2AD}"/>
              </a:ext>
            </a:extLst>
          </p:cNvPr>
          <p:cNvSpPr>
            <a:spLocks noGrp="1"/>
          </p:cNvSpPr>
          <p:nvPr>
            <p:ph type="title"/>
          </p:nvPr>
        </p:nvSpPr>
        <p:spPr>
          <a:xfrm>
            <a:off x="599694" y="492032"/>
            <a:ext cx="5703570" cy="714976"/>
          </a:xfrm>
        </p:spPr>
        <p:txBody>
          <a:bodyPr/>
          <a:lstStyle/>
          <a:p>
            <a:r>
              <a:rPr lang="en-IN"/>
              <a:t>CLEANING DATATYPES</a:t>
            </a:r>
          </a:p>
        </p:txBody>
      </p:sp>
      <p:pic>
        <p:nvPicPr>
          <p:cNvPr id="5" name="Picture 4">
            <a:extLst>
              <a:ext uri="{FF2B5EF4-FFF2-40B4-BE49-F238E27FC236}">
                <a16:creationId xmlns:a16="http://schemas.microsoft.com/office/drawing/2014/main" id="{667513F5-FF46-B654-4040-6B36DF4E68D5}"/>
              </a:ext>
            </a:extLst>
          </p:cNvPr>
          <p:cNvPicPr>
            <a:picLocks noChangeAspect="1"/>
          </p:cNvPicPr>
          <p:nvPr/>
        </p:nvPicPr>
        <p:blipFill>
          <a:blip r:embed="rId2"/>
          <a:stretch>
            <a:fillRect/>
          </a:stretch>
        </p:blipFill>
        <p:spPr>
          <a:xfrm>
            <a:off x="715578" y="1207008"/>
            <a:ext cx="4591691" cy="3444460"/>
          </a:xfrm>
          <a:prstGeom prst="rect">
            <a:avLst/>
          </a:prstGeom>
        </p:spPr>
      </p:pic>
    </p:spTree>
    <p:extLst>
      <p:ext uri="{BB962C8B-B14F-4D97-AF65-F5344CB8AC3E}">
        <p14:creationId xmlns:p14="http://schemas.microsoft.com/office/powerpoint/2010/main" val="3695636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E8C86D-E198-8004-3AD4-A0C64560AFA8}"/>
              </a:ext>
            </a:extLst>
          </p:cNvPr>
          <p:cNvPicPr>
            <a:picLocks noChangeAspect="1"/>
          </p:cNvPicPr>
          <p:nvPr/>
        </p:nvPicPr>
        <p:blipFill>
          <a:blip r:embed="rId2"/>
          <a:stretch>
            <a:fillRect/>
          </a:stretch>
        </p:blipFill>
        <p:spPr>
          <a:xfrm>
            <a:off x="515053" y="431294"/>
            <a:ext cx="7470708" cy="2695951"/>
          </a:xfrm>
          <a:prstGeom prst="rect">
            <a:avLst/>
          </a:prstGeom>
        </p:spPr>
      </p:pic>
      <p:sp>
        <p:nvSpPr>
          <p:cNvPr id="5" name="TextBox 4">
            <a:extLst>
              <a:ext uri="{FF2B5EF4-FFF2-40B4-BE49-F238E27FC236}">
                <a16:creationId xmlns:a16="http://schemas.microsoft.com/office/drawing/2014/main" id="{9EE02D8F-A8DB-6494-B0C4-90CA9F24A1D1}"/>
              </a:ext>
            </a:extLst>
          </p:cNvPr>
          <p:cNvSpPr txBox="1"/>
          <p:nvPr/>
        </p:nvSpPr>
        <p:spPr>
          <a:xfrm>
            <a:off x="515053" y="3127245"/>
            <a:ext cx="7385363" cy="1169551"/>
          </a:xfrm>
          <a:prstGeom prst="rect">
            <a:avLst/>
          </a:prstGeom>
          <a:noFill/>
        </p:spPr>
        <p:txBody>
          <a:bodyPr wrap="square" rtlCol="0">
            <a:spAutoFit/>
          </a:bodyPr>
          <a:lstStyle/>
          <a:p>
            <a:pPr marL="285750" indent="-285750">
              <a:buFont typeface="Arial" panose="020B0604020202020204" pitchFamily="34" charset="0"/>
              <a:buChar char="•"/>
            </a:pPr>
            <a:r>
              <a:rPr lang="en-US"/>
              <a:t>Date, numeric, and categorical columns were </a:t>
            </a:r>
            <a:r>
              <a:rPr lang="en-US" b="1"/>
              <a:t>converted to their appropriate data types</a:t>
            </a:r>
            <a:r>
              <a:rPr lang="en-US"/>
              <a:t> to ensure accurate analysis and prevent calculation errors.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Categorical values were </a:t>
            </a:r>
            <a:r>
              <a:rPr lang="en-US" b="1"/>
              <a:t>cleaned by removing extra spaces and standardizing text format</a:t>
            </a:r>
            <a:r>
              <a:rPr lang="en-US"/>
              <a:t>, improving consistency across the dataset.</a:t>
            </a:r>
            <a:endParaRPr lang="en-IN"/>
          </a:p>
        </p:txBody>
      </p:sp>
    </p:spTree>
    <p:extLst>
      <p:ext uri="{BB962C8B-B14F-4D97-AF65-F5344CB8AC3E}">
        <p14:creationId xmlns:p14="http://schemas.microsoft.com/office/powerpoint/2010/main" val="72635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292675-EDC1-6361-42B6-594E418A5DD2}"/>
              </a:ext>
            </a:extLst>
          </p:cNvPr>
          <p:cNvPicPr>
            <a:picLocks noChangeAspect="1"/>
          </p:cNvPicPr>
          <p:nvPr/>
        </p:nvPicPr>
        <p:blipFill>
          <a:blip r:embed="rId2"/>
          <a:stretch>
            <a:fillRect/>
          </a:stretch>
        </p:blipFill>
        <p:spPr>
          <a:xfrm>
            <a:off x="683202" y="362676"/>
            <a:ext cx="5534717" cy="4418148"/>
          </a:xfrm>
          <a:prstGeom prst="rect">
            <a:avLst/>
          </a:prstGeom>
        </p:spPr>
      </p:pic>
    </p:spTree>
    <p:extLst>
      <p:ext uri="{BB962C8B-B14F-4D97-AF65-F5344CB8AC3E}">
        <p14:creationId xmlns:p14="http://schemas.microsoft.com/office/powerpoint/2010/main" val="303857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CA73B-26D8-008C-C82F-CBBEC64F5BC1}"/>
              </a:ext>
            </a:extLst>
          </p:cNvPr>
          <p:cNvSpPr>
            <a:spLocks noGrp="1"/>
          </p:cNvSpPr>
          <p:nvPr>
            <p:ph type="title"/>
          </p:nvPr>
        </p:nvSpPr>
        <p:spPr>
          <a:xfrm>
            <a:off x="624078" y="516416"/>
            <a:ext cx="7505700" cy="519904"/>
          </a:xfrm>
        </p:spPr>
        <p:txBody>
          <a:bodyPr>
            <a:normAutofit fontScale="90000"/>
          </a:bodyPr>
          <a:lstStyle/>
          <a:p>
            <a:r>
              <a:rPr lang="en-IN"/>
              <a:t>IDENTIFY MISSING VALUES</a:t>
            </a:r>
          </a:p>
        </p:txBody>
      </p:sp>
      <p:pic>
        <p:nvPicPr>
          <p:cNvPr id="4" name="Picture 3" descr="A screenshot of a computer&#10;&#10;AI-generated content may be incorrect.">
            <a:extLst>
              <a:ext uri="{FF2B5EF4-FFF2-40B4-BE49-F238E27FC236}">
                <a16:creationId xmlns:a16="http://schemas.microsoft.com/office/drawing/2014/main" id="{54E6BC1A-EF5B-FC58-5430-DC52504E8ED5}"/>
              </a:ext>
            </a:extLst>
          </p:cNvPr>
          <p:cNvPicPr>
            <a:picLocks noChangeAspect="1"/>
          </p:cNvPicPr>
          <p:nvPr/>
        </p:nvPicPr>
        <p:blipFill>
          <a:blip r:embed="rId2"/>
          <a:stretch>
            <a:fillRect/>
          </a:stretch>
        </p:blipFill>
        <p:spPr>
          <a:xfrm>
            <a:off x="624078" y="1224648"/>
            <a:ext cx="3169478" cy="3073251"/>
          </a:xfrm>
          <a:prstGeom prst="rect">
            <a:avLst/>
          </a:prstGeom>
        </p:spPr>
      </p:pic>
      <p:pic>
        <p:nvPicPr>
          <p:cNvPr id="6" name="Picture 5" descr="A graph with numbers and a number of values&#10;&#10;AI-generated content may be incorrect.">
            <a:extLst>
              <a:ext uri="{FF2B5EF4-FFF2-40B4-BE49-F238E27FC236}">
                <a16:creationId xmlns:a16="http://schemas.microsoft.com/office/drawing/2014/main" id="{310B9CED-CE95-8808-9978-CF0F944B8E9A}"/>
              </a:ext>
            </a:extLst>
          </p:cNvPr>
          <p:cNvPicPr>
            <a:picLocks noChangeAspect="1"/>
          </p:cNvPicPr>
          <p:nvPr/>
        </p:nvPicPr>
        <p:blipFill>
          <a:blip r:embed="rId3"/>
          <a:stretch>
            <a:fillRect/>
          </a:stretch>
        </p:blipFill>
        <p:spPr>
          <a:xfrm>
            <a:off x="3937976" y="1224647"/>
            <a:ext cx="4581946" cy="3073251"/>
          </a:xfrm>
          <a:prstGeom prst="rect">
            <a:avLst/>
          </a:prstGeom>
        </p:spPr>
      </p:pic>
    </p:spTree>
    <p:extLst>
      <p:ext uri="{BB962C8B-B14F-4D97-AF65-F5344CB8AC3E}">
        <p14:creationId xmlns:p14="http://schemas.microsoft.com/office/powerpoint/2010/main" val="264941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2AF5562-BCDE-17A9-0F3B-7F50F3C73D00}"/>
              </a:ext>
            </a:extLst>
          </p:cNvPr>
          <p:cNvPicPr>
            <a:picLocks noChangeAspect="1"/>
          </p:cNvPicPr>
          <p:nvPr/>
        </p:nvPicPr>
        <p:blipFill>
          <a:blip r:embed="rId2"/>
          <a:stretch>
            <a:fillRect/>
          </a:stretch>
        </p:blipFill>
        <p:spPr>
          <a:xfrm>
            <a:off x="405172" y="779644"/>
            <a:ext cx="4069292" cy="3584211"/>
          </a:xfrm>
          <a:prstGeom prst="rect">
            <a:avLst/>
          </a:prstGeom>
        </p:spPr>
      </p:pic>
      <p:sp>
        <p:nvSpPr>
          <p:cNvPr id="5" name="TextBox 4">
            <a:extLst>
              <a:ext uri="{FF2B5EF4-FFF2-40B4-BE49-F238E27FC236}">
                <a16:creationId xmlns:a16="http://schemas.microsoft.com/office/drawing/2014/main" id="{CD3CE3C3-22BE-23EB-9F5C-A040269527F2}"/>
              </a:ext>
            </a:extLst>
          </p:cNvPr>
          <p:cNvSpPr txBox="1"/>
          <p:nvPr/>
        </p:nvSpPr>
        <p:spPr>
          <a:xfrm>
            <a:off x="4669538" y="1255776"/>
            <a:ext cx="3633216" cy="2800767"/>
          </a:xfrm>
          <a:prstGeom prst="rect">
            <a:avLst/>
          </a:prstGeom>
          <a:noFill/>
        </p:spPr>
        <p:txBody>
          <a:bodyPr wrap="square" rtlCol="0">
            <a:spAutoFit/>
          </a:bodyPr>
          <a:lstStyle/>
          <a:p>
            <a:pPr marL="285750" indent="-285750">
              <a:buFont typeface="Arial" panose="020B0604020202020204" pitchFamily="34" charset="0"/>
              <a:buChar char="•"/>
            </a:pPr>
            <a:r>
              <a:rPr lang="en-US" sz="1600"/>
              <a:t>Date and weight columns were intentionally left untreated to avoid creating incorrect timelines or unrealistic shipment values.</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Selective handling of missing values ensured </a:t>
            </a:r>
            <a:r>
              <a:rPr lang="en-US" sz="1600" b="1"/>
              <a:t>data accuracy and reliable business insights</a:t>
            </a:r>
            <a:r>
              <a:rPr lang="en-US" sz="1600"/>
              <a:t>, rather than introducing misleading information.</a:t>
            </a:r>
            <a:endParaRPr lang="en-IN" sz="1600"/>
          </a:p>
        </p:txBody>
      </p:sp>
    </p:spTree>
    <p:extLst>
      <p:ext uri="{BB962C8B-B14F-4D97-AF65-F5344CB8AC3E}">
        <p14:creationId xmlns:p14="http://schemas.microsoft.com/office/powerpoint/2010/main" val="877081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title"/>
          </p:nvPr>
        </p:nvSpPr>
        <p:spPr>
          <a:xfrm>
            <a:off x="514350" y="382304"/>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Analysis Approach: Univariate, Bivariate &amp; Multivariate</a:t>
            </a:r>
            <a:endParaRPr/>
          </a:p>
        </p:txBody>
      </p:sp>
      <p:pic>
        <p:nvPicPr>
          <p:cNvPr id="4" name="Picture 3">
            <a:extLst>
              <a:ext uri="{FF2B5EF4-FFF2-40B4-BE49-F238E27FC236}">
                <a16:creationId xmlns:a16="http://schemas.microsoft.com/office/drawing/2014/main" id="{EFB6BFFB-776C-1E24-27FA-90B8EFEF8FBA}"/>
              </a:ext>
            </a:extLst>
          </p:cNvPr>
          <p:cNvPicPr>
            <a:picLocks noChangeAspect="1"/>
          </p:cNvPicPr>
          <p:nvPr/>
        </p:nvPicPr>
        <p:blipFill>
          <a:blip r:embed="rId3"/>
          <a:stretch>
            <a:fillRect/>
          </a:stretch>
        </p:blipFill>
        <p:spPr>
          <a:xfrm>
            <a:off x="731520" y="1422248"/>
            <a:ext cx="7288530" cy="33389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3" name="Picture 2">
            <a:extLst>
              <a:ext uri="{FF2B5EF4-FFF2-40B4-BE49-F238E27FC236}">
                <a16:creationId xmlns:a16="http://schemas.microsoft.com/office/drawing/2014/main" id="{940E7FB2-251D-67A6-C4A2-F79C0CD4BA88}"/>
              </a:ext>
            </a:extLst>
          </p:cNvPr>
          <p:cNvPicPr>
            <a:picLocks noChangeAspect="1"/>
          </p:cNvPicPr>
          <p:nvPr/>
        </p:nvPicPr>
        <p:blipFill>
          <a:blip r:embed="rId3"/>
          <a:stretch>
            <a:fillRect/>
          </a:stretch>
        </p:blipFill>
        <p:spPr>
          <a:xfrm>
            <a:off x="4705815" y="1456714"/>
            <a:ext cx="3404682" cy="3156872"/>
          </a:xfrm>
          <a:prstGeom prst="rect">
            <a:avLst/>
          </a:prstGeom>
        </p:spPr>
      </p:pic>
      <p:sp>
        <p:nvSpPr>
          <p:cNvPr id="183" name="Google Shape;183;p21"/>
          <p:cNvSpPr txBox="1">
            <a:spLocks noGrp="1"/>
          </p:cNvSpPr>
          <p:nvPr>
            <p:ph type="title"/>
          </p:nvPr>
        </p:nvSpPr>
        <p:spPr>
          <a:xfrm>
            <a:off x="462311" y="368300"/>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Univariate Analysis: Count  Of Shippment By </a:t>
            </a:r>
            <a:br>
              <a:rPr lang="en-GB"/>
            </a:br>
            <a:r>
              <a:rPr lang="en-GB"/>
              <a:t>Country</a:t>
            </a:r>
            <a:endParaRPr/>
          </a:p>
        </p:txBody>
      </p:sp>
      <p:pic>
        <p:nvPicPr>
          <p:cNvPr id="5" name="Picture 4">
            <a:extLst>
              <a:ext uri="{FF2B5EF4-FFF2-40B4-BE49-F238E27FC236}">
                <a16:creationId xmlns:a16="http://schemas.microsoft.com/office/drawing/2014/main" id="{7F361D8A-1931-7A7C-731C-5FCB0790D9DA}"/>
              </a:ext>
            </a:extLst>
          </p:cNvPr>
          <p:cNvPicPr>
            <a:picLocks noChangeAspect="1"/>
          </p:cNvPicPr>
          <p:nvPr/>
        </p:nvPicPr>
        <p:blipFill>
          <a:blip r:embed="rId4"/>
          <a:stretch>
            <a:fillRect/>
          </a:stretch>
        </p:blipFill>
        <p:spPr>
          <a:xfrm>
            <a:off x="539093" y="1456714"/>
            <a:ext cx="3847054" cy="282535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0DFC-615D-0449-7BA3-07BF5D02F3EB}"/>
              </a:ext>
            </a:extLst>
          </p:cNvPr>
          <p:cNvSpPr>
            <a:spLocks noGrp="1"/>
          </p:cNvSpPr>
          <p:nvPr>
            <p:ph type="title"/>
          </p:nvPr>
        </p:nvSpPr>
        <p:spPr>
          <a:xfrm>
            <a:off x="343365" y="347513"/>
            <a:ext cx="7505700" cy="954600"/>
          </a:xfrm>
        </p:spPr>
        <p:txBody>
          <a:bodyPr>
            <a:normAutofit fontScale="90000"/>
          </a:bodyPr>
          <a:lstStyle/>
          <a:p>
            <a:r>
              <a:rPr lang="en-GB"/>
              <a:t>Univariate Analysis: Distribution Of Shippment</a:t>
            </a:r>
            <a:br>
              <a:rPr lang="en-GB"/>
            </a:br>
            <a:r>
              <a:rPr lang="en-GB"/>
              <a:t>Modes</a:t>
            </a:r>
            <a:br>
              <a:rPr lang="en-GB"/>
            </a:br>
            <a:br>
              <a:rPr lang="en-GB"/>
            </a:br>
            <a:endParaRPr lang="en-IN"/>
          </a:p>
        </p:txBody>
      </p:sp>
      <p:pic>
        <p:nvPicPr>
          <p:cNvPr id="6" name="Picture 5">
            <a:extLst>
              <a:ext uri="{FF2B5EF4-FFF2-40B4-BE49-F238E27FC236}">
                <a16:creationId xmlns:a16="http://schemas.microsoft.com/office/drawing/2014/main" id="{C95F9F61-0621-697D-E946-901E4FE7F9E8}"/>
              </a:ext>
            </a:extLst>
          </p:cNvPr>
          <p:cNvPicPr>
            <a:picLocks noChangeAspect="1"/>
          </p:cNvPicPr>
          <p:nvPr/>
        </p:nvPicPr>
        <p:blipFill>
          <a:blip r:embed="rId2"/>
          <a:stretch>
            <a:fillRect/>
          </a:stretch>
        </p:blipFill>
        <p:spPr>
          <a:xfrm>
            <a:off x="4676077" y="1271912"/>
            <a:ext cx="3588315" cy="3177363"/>
          </a:xfrm>
          <a:prstGeom prst="rect">
            <a:avLst/>
          </a:prstGeom>
        </p:spPr>
      </p:pic>
      <p:pic>
        <p:nvPicPr>
          <p:cNvPr id="8" name="Picture 7">
            <a:extLst>
              <a:ext uri="{FF2B5EF4-FFF2-40B4-BE49-F238E27FC236}">
                <a16:creationId xmlns:a16="http://schemas.microsoft.com/office/drawing/2014/main" id="{1D98DC5C-7FDF-B082-5F2C-1734884902E5}"/>
              </a:ext>
            </a:extLst>
          </p:cNvPr>
          <p:cNvPicPr>
            <a:picLocks noChangeAspect="1"/>
          </p:cNvPicPr>
          <p:nvPr/>
        </p:nvPicPr>
        <p:blipFill>
          <a:blip r:embed="rId3"/>
          <a:stretch>
            <a:fillRect/>
          </a:stretch>
        </p:blipFill>
        <p:spPr>
          <a:xfrm>
            <a:off x="621103" y="1302113"/>
            <a:ext cx="4054974" cy="3177363"/>
          </a:xfrm>
          <a:prstGeom prst="rect">
            <a:avLst/>
          </a:prstGeom>
        </p:spPr>
      </p:pic>
    </p:spTree>
    <p:extLst>
      <p:ext uri="{BB962C8B-B14F-4D97-AF65-F5344CB8AC3E}">
        <p14:creationId xmlns:p14="http://schemas.microsoft.com/office/powerpoint/2010/main" val="3968079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5F712-6678-BD76-AFB3-6184B5EE8E08}"/>
              </a:ext>
            </a:extLst>
          </p:cNvPr>
          <p:cNvSpPr>
            <a:spLocks noGrp="1"/>
          </p:cNvSpPr>
          <p:nvPr>
            <p:ph type="title"/>
          </p:nvPr>
        </p:nvSpPr>
        <p:spPr>
          <a:xfrm>
            <a:off x="321062" y="354946"/>
            <a:ext cx="7505700" cy="730439"/>
          </a:xfrm>
        </p:spPr>
        <p:txBody>
          <a:bodyPr>
            <a:normAutofit/>
          </a:bodyPr>
          <a:lstStyle/>
          <a:p>
            <a:r>
              <a:rPr lang="en-GB"/>
              <a:t>Univariate Analysis: Average Freight Cost</a:t>
            </a:r>
            <a:endParaRPr lang="en-IN"/>
          </a:p>
        </p:txBody>
      </p:sp>
      <p:pic>
        <p:nvPicPr>
          <p:cNvPr id="6" name="Picture 5">
            <a:extLst>
              <a:ext uri="{FF2B5EF4-FFF2-40B4-BE49-F238E27FC236}">
                <a16:creationId xmlns:a16="http://schemas.microsoft.com/office/drawing/2014/main" id="{C977B6D5-4C82-E26F-01DC-163A64C39B14}"/>
              </a:ext>
            </a:extLst>
          </p:cNvPr>
          <p:cNvPicPr>
            <a:picLocks noChangeAspect="1"/>
          </p:cNvPicPr>
          <p:nvPr/>
        </p:nvPicPr>
        <p:blipFill>
          <a:blip r:embed="rId2"/>
          <a:stretch>
            <a:fillRect/>
          </a:stretch>
        </p:blipFill>
        <p:spPr>
          <a:xfrm>
            <a:off x="4200292" y="1471496"/>
            <a:ext cx="4265341" cy="2907215"/>
          </a:xfrm>
          <a:prstGeom prst="rect">
            <a:avLst/>
          </a:prstGeom>
        </p:spPr>
      </p:pic>
      <p:pic>
        <p:nvPicPr>
          <p:cNvPr id="8" name="Picture 7">
            <a:extLst>
              <a:ext uri="{FF2B5EF4-FFF2-40B4-BE49-F238E27FC236}">
                <a16:creationId xmlns:a16="http://schemas.microsoft.com/office/drawing/2014/main" id="{8D0B5EE7-FC72-476D-51D3-8852FE380D1F}"/>
              </a:ext>
            </a:extLst>
          </p:cNvPr>
          <p:cNvPicPr>
            <a:picLocks noChangeAspect="1"/>
          </p:cNvPicPr>
          <p:nvPr/>
        </p:nvPicPr>
        <p:blipFill>
          <a:blip r:embed="rId3"/>
          <a:stretch>
            <a:fillRect/>
          </a:stretch>
        </p:blipFill>
        <p:spPr>
          <a:xfrm>
            <a:off x="626327" y="1011220"/>
            <a:ext cx="3031273" cy="3777334"/>
          </a:xfrm>
          <a:prstGeom prst="rect">
            <a:avLst/>
          </a:prstGeom>
        </p:spPr>
      </p:pic>
    </p:spTree>
    <p:extLst>
      <p:ext uri="{BB962C8B-B14F-4D97-AF65-F5344CB8AC3E}">
        <p14:creationId xmlns:p14="http://schemas.microsoft.com/office/powerpoint/2010/main" val="1683487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B97E8-FC90-5000-29D5-075E48DC7EE3}"/>
              </a:ext>
            </a:extLst>
          </p:cNvPr>
          <p:cNvSpPr>
            <a:spLocks noGrp="1"/>
          </p:cNvSpPr>
          <p:nvPr>
            <p:ph type="title"/>
          </p:nvPr>
        </p:nvSpPr>
        <p:spPr>
          <a:xfrm>
            <a:off x="380535" y="227475"/>
            <a:ext cx="7505700" cy="954600"/>
          </a:xfrm>
        </p:spPr>
        <p:txBody>
          <a:bodyPr>
            <a:normAutofit fontScale="90000"/>
          </a:bodyPr>
          <a:lstStyle/>
          <a:p>
            <a:r>
              <a:rPr lang="en-GB"/>
              <a:t>Univariate Analysis: Line Item Quantity</a:t>
            </a:r>
            <a:br>
              <a:rPr lang="en-GB"/>
            </a:br>
            <a:r>
              <a:rPr lang="en-GB"/>
              <a:t>Distribution</a:t>
            </a:r>
            <a:br>
              <a:rPr lang="en-GB"/>
            </a:br>
            <a:endParaRPr lang="en-IN"/>
          </a:p>
        </p:txBody>
      </p:sp>
      <p:pic>
        <p:nvPicPr>
          <p:cNvPr id="8" name="Picture 7">
            <a:extLst>
              <a:ext uri="{FF2B5EF4-FFF2-40B4-BE49-F238E27FC236}">
                <a16:creationId xmlns:a16="http://schemas.microsoft.com/office/drawing/2014/main" id="{80122A1B-0D04-8B63-8277-D4933FFA53F2}"/>
              </a:ext>
            </a:extLst>
          </p:cNvPr>
          <p:cNvPicPr>
            <a:picLocks noChangeAspect="1"/>
          </p:cNvPicPr>
          <p:nvPr/>
        </p:nvPicPr>
        <p:blipFill>
          <a:blip r:embed="rId2"/>
          <a:stretch>
            <a:fillRect/>
          </a:stretch>
        </p:blipFill>
        <p:spPr>
          <a:xfrm>
            <a:off x="380535" y="1070988"/>
            <a:ext cx="3544868" cy="3775145"/>
          </a:xfrm>
          <a:prstGeom prst="rect">
            <a:avLst/>
          </a:prstGeom>
        </p:spPr>
      </p:pic>
      <p:pic>
        <p:nvPicPr>
          <p:cNvPr id="10" name="Picture 9">
            <a:extLst>
              <a:ext uri="{FF2B5EF4-FFF2-40B4-BE49-F238E27FC236}">
                <a16:creationId xmlns:a16="http://schemas.microsoft.com/office/drawing/2014/main" id="{CE1BC61E-6FFF-85E9-7BF0-CB6B1673CF99}"/>
              </a:ext>
            </a:extLst>
          </p:cNvPr>
          <p:cNvPicPr>
            <a:picLocks noChangeAspect="1"/>
          </p:cNvPicPr>
          <p:nvPr/>
        </p:nvPicPr>
        <p:blipFill>
          <a:blip r:embed="rId3"/>
          <a:stretch>
            <a:fillRect/>
          </a:stretch>
        </p:blipFill>
        <p:spPr>
          <a:xfrm>
            <a:off x="4133385" y="1381005"/>
            <a:ext cx="4478188" cy="2573032"/>
          </a:xfrm>
          <a:prstGeom prst="rect">
            <a:avLst/>
          </a:prstGeom>
        </p:spPr>
      </p:pic>
    </p:spTree>
    <p:extLst>
      <p:ext uri="{BB962C8B-B14F-4D97-AF65-F5344CB8AC3E}">
        <p14:creationId xmlns:p14="http://schemas.microsoft.com/office/powerpoint/2010/main" val="1360907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1304-0B13-A91A-E4D5-84A50CF3EFAA}"/>
              </a:ext>
            </a:extLst>
          </p:cNvPr>
          <p:cNvSpPr>
            <a:spLocks noGrp="1"/>
          </p:cNvSpPr>
          <p:nvPr>
            <p:ph type="title"/>
          </p:nvPr>
        </p:nvSpPr>
        <p:spPr>
          <a:xfrm>
            <a:off x="752400" y="503629"/>
            <a:ext cx="7505700" cy="954600"/>
          </a:xfrm>
        </p:spPr>
        <p:txBody>
          <a:bodyPr>
            <a:normAutofit fontScale="90000"/>
          </a:bodyPr>
          <a:lstStyle/>
          <a:p>
            <a:r>
              <a:rPr lang="en-GB"/>
              <a:t>Univariate Analysis: Vendors With Highest</a:t>
            </a:r>
            <a:br>
              <a:rPr lang="en-GB"/>
            </a:br>
            <a:r>
              <a:rPr lang="en-GB"/>
              <a:t>Orders</a:t>
            </a:r>
            <a:br>
              <a:rPr lang="en-GB"/>
            </a:br>
            <a:endParaRPr lang="en-IN"/>
          </a:p>
        </p:txBody>
      </p:sp>
      <p:pic>
        <p:nvPicPr>
          <p:cNvPr id="6" name="Picture 5">
            <a:extLst>
              <a:ext uri="{FF2B5EF4-FFF2-40B4-BE49-F238E27FC236}">
                <a16:creationId xmlns:a16="http://schemas.microsoft.com/office/drawing/2014/main" id="{86468DF9-1A0C-3DD8-1376-6DF9C71EC850}"/>
              </a:ext>
            </a:extLst>
          </p:cNvPr>
          <p:cNvPicPr>
            <a:picLocks noChangeAspect="1"/>
          </p:cNvPicPr>
          <p:nvPr/>
        </p:nvPicPr>
        <p:blipFill>
          <a:blip r:embed="rId2"/>
          <a:stretch>
            <a:fillRect/>
          </a:stretch>
        </p:blipFill>
        <p:spPr>
          <a:xfrm>
            <a:off x="3972070" y="1516702"/>
            <a:ext cx="4936018" cy="2816405"/>
          </a:xfrm>
          <a:prstGeom prst="rect">
            <a:avLst/>
          </a:prstGeom>
        </p:spPr>
      </p:pic>
      <p:pic>
        <p:nvPicPr>
          <p:cNvPr id="8" name="Picture 7">
            <a:extLst>
              <a:ext uri="{FF2B5EF4-FFF2-40B4-BE49-F238E27FC236}">
                <a16:creationId xmlns:a16="http://schemas.microsoft.com/office/drawing/2014/main" id="{BE83BBBE-ED48-34B7-4040-428BD93E4A31}"/>
              </a:ext>
            </a:extLst>
          </p:cNvPr>
          <p:cNvPicPr>
            <a:picLocks noChangeAspect="1"/>
          </p:cNvPicPr>
          <p:nvPr/>
        </p:nvPicPr>
        <p:blipFill>
          <a:blip r:embed="rId3"/>
          <a:stretch>
            <a:fillRect/>
          </a:stretch>
        </p:blipFill>
        <p:spPr>
          <a:xfrm>
            <a:off x="612654" y="1516702"/>
            <a:ext cx="3359416" cy="2968502"/>
          </a:xfrm>
          <a:prstGeom prst="rect">
            <a:avLst/>
          </a:prstGeom>
        </p:spPr>
      </p:pic>
    </p:spTree>
    <p:extLst>
      <p:ext uri="{BB962C8B-B14F-4D97-AF65-F5344CB8AC3E}">
        <p14:creationId xmlns:p14="http://schemas.microsoft.com/office/powerpoint/2010/main" val="366842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2"/>
          <p:cNvSpPr txBox="1">
            <a:spLocks noGrp="1"/>
          </p:cNvSpPr>
          <p:nvPr>
            <p:ph type="title"/>
          </p:nvPr>
        </p:nvSpPr>
        <p:spPr>
          <a:xfrm>
            <a:off x="536652" y="429288"/>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Bivariate Analysis: Delivery Delay  By Shipment Mode</a:t>
            </a:r>
            <a:endParaRPr/>
          </a:p>
        </p:txBody>
      </p:sp>
      <p:pic>
        <p:nvPicPr>
          <p:cNvPr id="5" name="Picture 4">
            <a:extLst>
              <a:ext uri="{FF2B5EF4-FFF2-40B4-BE49-F238E27FC236}">
                <a16:creationId xmlns:a16="http://schemas.microsoft.com/office/drawing/2014/main" id="{25C25C69-D6DC-B796-4A0F-2E48F481E52D}"/>
              </a:ext>
            </a:extLst>
          </p:cNvPr>
          <p:cNvPicPr>
            <a:picLocks noChangeAspect="1"/>
          </p:cNvPicPr>
          <p:nvPr/>
        </p:nvPicPr>
        <p:blipFill>
          <a:blip r:embed="rId3"/>
          <a:stretch>
            <a:fillRect/>
          </a:stretch>
        </p:blipFill>
        <p:spPr>
          <a:xfrm>
            <a:off x="267630" y="1383888"/>
            <a:ext cx="4304370" cy="3187132"/>
          </a:xfrm>
          <a:prstGeom prst="rect">
            <a:avLst/>
          </a:prstGeom>
        </p:spPr>
      </p:pic>
      <p:pic>
        <p:nvPicPr>
          <p:cNvPr id="7" name="Picture 6">
            <a:extLst>
              <a:ext uri="{FF2B5EF4-FFF2-40B4-BE49-F238E27FC236}">
                <a16:creationId xmlns:a16="http://schemas.microsoft.com/office/drawing/2014/main" id="{DF88763D-0BF6-FE38-DE33-40DD9DB6BA6A}"/>
              </a:ext>
            </a:extLst>
          </p:cNvPr>
          <p:cNvPicPr>
            <a:picLocks noChangeAspect="1"/>
          </p:cNvPicPr>
          <p:nvPr/>
        </p:nvPicPr>
        <p:blipFill>
          <a:blip r:embed="rId4"/>
          <a:stretch>
            <a:fillRect/>
          </a:stretch>
        </p:blipFill>
        <p:spPr>
          <a:xfrm>
            <a:off x="4841022" y="1383888"/>
            <a:ext cx="3702972" cy="283240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B6C42-72F2-34CB-97E9-ABF45E36A80D}"/>
              </a:ext>
            </a:extLst>
          </p:cNvPr>
          <p:cNvSpPr>
            <a:spLocks noGrp="1"/>
          </p:cNvSpPr>
          <p:nvPr>
            <p:ph type="title"/>
          </p:nvPr>
        </p:nvSpPr>
        <p:spPr>
          <a:xfrm>
            <a:off x="514351" y="354946"/>
            <a:ext cx="7505700" cy="954600"/>
          </a:xfrm>
        </p:spPr>
        <p:txBody>
          <a:bodyPr>
            <a:normAutofit fontScale="90000"/>
          </a:bodyPr>
          <a:lstStyle/>
          <a:p>
            <a:r>
              <a:rPr lang="en-GB"/>
              <a:t>Bivariate Analysis: Total Shipments Over</a:t>
            </a:r>
            <a:br>
              <a:rPr lang="en-GB"/>
            </a:br>
            <a:r>
              <a:rPr lang="en-GB"/>
              <a:t>Time</a:t>
            </a:r>
            <a:br>
              <a:rPr lang="en-GB"/>
            </a:br>
            <a:endParaRPr lang="en-IN"/>
          </a:p>
        </p:txBody>
      </p:sp>
      <p:pic>
        <p:nvPicPr>
          <p:cNvPr id="6" name="Picture 5">
            <a:extLst>
              <a:ext uri="{FF2B5EF4-FFF2-40B4-BE49-F238E27FC236}">
                <a16:creationId xmlns:a16="http://schemas.microsoft.com/office/drawing/2014/main" id="{6F010CEB-FDF7-BE70-75B7-DB0D07A35A8F}"/>
              </a:ext>
            </a:extLst>
          </p:cNvPr>
          <p:cNvPicPr>
            <a:picLocks noChangeAspect="1"/>
          </p:cNvPicPr>
          <p:nvPr/>
        </p:nvPicPr>
        <p:blipFill>
          <a:blip r:embed="rId2"/>
          <a:stretch>
            <a:fillRect/>
          </a:stretch>
        </p:blipFill>
        <p:spPr>
          <a:xfrm>
            <a:off x="283325" y="1511229"/>
            <a:ext cx="3983876" cy="2824976"/>
          </a:xfrm>
          <a:prstGeom prst="rect">
            <a:avLst/>
          </a:prstGeom>
        </p:spPr>
      </p:pic>
      <p:pic>
        <p:nvPicPr>
          <p:cNvPr id="8" name="Picture 7">
            <a:extLst>
              <a:ext uri="{FF2B5EF4-FFF2-40B4-BE49-F238E27FC236}">
                <a16:creationId xmlns:a16="http://schemas.microsoft.com/office/drawing/2014/main" id="{A6E12E4B-955C-43B3-72A2-CEA0CEFF00CE}"/>
              </a:ext>
            </a:extLst>
          </p:cNvPr>
          <p:cNvPicPr>
            <a:picLocks noChangeAspect="1"/>
          </p:cNvPicPr>
          <p:nvPr/>
        </p:nvPicPr>
        <p:blipFill>
          <a:blip r:embed="rId3"/>
          <a:stretch>
            <a:fillRect/>
          </a:stretch>
        </p:blipFill>
        <p:spPr>
          <a:xfrm>
            <a:off x="4289504" y="1598341"/>
            <a:ext cx="4460487" cy="2650753"/>
          </a:xfrm>
          <a:prstGeom prst="rect">
            <a:avLst/>
          </a:prstGeom>
        </p:spPr>
      </p:pic>
    </p:spTree>
    <p:extLst>
      <p:ext uri="{BB962C8B-B14F-4D97-AF65-F5344CB8AC3E}">
        <p14:creationId xmlns:p14="http://schemas.microsoft.com/office/powerpoint/2010/main" val="3285359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608A-97D1-32BE-B55D-73FFC28C86F0}"/>
              </a:ext>
            </a:extLst>
          </p:cNvPr>
          <p:cNvSpPr>
            <a:spLocks noGrp="1"/>
          </p:cNvSpPr>
          <p:nvPr>
            <p:ph type="title"/>
          </p:nvPr>
        </p:nvSpPr>
        <p:spPr>
          <a:xfrm>
            <a:off x="521784" y="406985"/>
            <a:ext cx="7505700" cy="954600"/>
          </a:xfrm>
        </p:spPr>
        <p:txBody>
          <a:bodyPr>
            <a:normAutofit fontScale="90000"/>
          </a:bodyPr>
          <a:lstStyle/>
          <a:p>
            <a:r>
              <a:rPr lang="en-GB"/>
              <a:t>Bivariate Analysis: Freight Cost In Comparison</a:t>
            </a:r>
            <a:br>
              <a:rPr lang="en-GB"/>
            </a:br>
            <a:r>
              <a:rPr lang="en-GB"/>
              <a:t>To Weight</a:t>
            </a:r>
            <a:br>
              <a:rPr lang="en-GB"/>
            </a:br>
            <a:endParaRPr lang="en-IN"/>
          </a:p>
        </p:txBody>
      </p:sp>
      <p:pic>
        <p:nvPicPr>
          <p:cNvPr id="6" name="Picture 5">
            <a:extLst>
              <a:ext uri="{FF2B5EF4-FFF2-40B4-BE49-F238E27FC236}">
                <a16:creationId xmlns:a16="http://schemas.microsoft.com/office/drawing/2014/main" id="{9F2B69B0-D962-40BD-74E7-E7CA68517F91}"/>
              </a:ext>
            </a:extLst>
          </p:cNvPr>
          <p:cNvPicPr>
            <a:picLocks noChangeAspect="1"/>
          </p:cNvPicPr>
          <p:nvPr/>
        </p:nvPicPr>
        <p:blipFill>
          <a:blip r:embed="rId2"/>
          <a:stretch>
            <a:fillRect/>
          </a:stretch>
        </p:blipFill>
        <p:spPr>
          <a:xfrm>
            <a:off x="469745" y="1533714"/>
            <a:ext cx="4102255" cy="2596906"/>
          </a:xfrm>
          <a:prstGeom prst="rect">
            <a:avLst/>
          </a:prstGeom>
        </p:spPr>
      </p:pic>
      <p:pic>
        <p:nvPicPr>
          <p:cNvPr id="8" name="Picture 7">
            <a:extLst>
              <a:ext uri="{FF2B5EF4-FFF2-40B4-BE49-F238E27FC236}">
                <a16:creationId xmlns:a16="http://schemas.microsoft.com/office/drawing/2014/main" id="{3116F688-BCF8-4978-D8BF-329342A60F13}"/>
              </a:ext>
            </a:extLst>
          </p:cNvPr>
          <p:cNvPicPr>
            <a:picLocks noChangeAspect="1"/>
          </p:cNvPicPr>
          <p:nvPr/>
        </p:nvPicPr>
        <p:blipFill>
          <a:blip r:embed="rId3"/>
          <a:stretch>
            <a:fillRect/>
          </a:stretch>
        </p:blipFill>
        <p:spPr>
          <a:xfrm>
            <a:off x="4635607" y="1533714"/>
            <a:ext cx="4038648" cy="2577369"/>
          </a:xfrm>
          <a:prstGeom prst="rect">
            <a:avLst/>
          </a:prstGeom>
        </p:spPr>
      </p:pic>
    </p:spTree>
    <p:extLst>
      <p:ext uri="{BB962C8B-B14F-4D97-AF65-F5344CB8AC3E}">
        <p14:creationId xmlns:p14="http://schemas.microsoft.com/office/powerpoint/2010/main" val="2868012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A911B-692D-7813-FFCD-843EF7BEBA0D}"/>
              </a:ext>
            </a:extLst>
          </p:cNvPr>
          <p:cNvSpPr>
            <a:spLocks noGrp="1"/>
          </p:cNvSpPr>
          <p:nvPr>
            <p:ph type="title"/>
          </p:nvPr>
        </p:nvSpPr>
        <p:spPr>
          <a:xfrm>
            <a:off x="462311" y="325209"/>
            <a:ext cx="7505700" cy="960897"/>
          </a:xfrm>
        </p:spPr>
        <p:txBody>
          <a:bodyPr>
            <a:normAutofit fontScale="90000"/>
          </a:bodyPr>
          <a:lstStyle/>
          <a:p>
            <a:r>
              <a:rPr lang="en-GB"/>
              <a:t>Bivariate Analysis: Shipment Mode In Comparison To Freight  Cost</a:t>
            </a:r>
            <a:br>
              <a:rPr lang="en-GB"/>
            </a:br>
            <a:endParaRPr lang="en-IN"/>
          </a:p>
        </p:txBody>
      </p:sp>
      <p:pic>
        <p:nvPicPr>
          <p:cNvPr id="6" name="Picture 5">
            <a:extLst>
              <a:ext uri="{FF2B5EF4-FFF2-40B4-BE49-F238E27FC236}">
                <a16:creationId xmlns:a16="http://schemas.microsoft.com/office/drawing/2014/main" id="{3B4B7CC7-A15D-80F0-7654-7E1AAFFA2733}"/>
              </a:ext>
            </a:extLst>
          </p:cNvPr>
          <p:cNvPicPr>
            <a:picLocks noChangeAspect="1"/>
          </p:cNvPicPr>
          <p:nvPr/>
        </p:nvPicPr>
        <p:blipFill>
          <a:blip r:embed="rId2"/>
          <a:stretch>
            <a:fillRect/>
          </a:stretch>
        </p:blipFill>
        <p:spPr>
          <a:xfrm>
            <a:off x="390798" y="1210257"/>
            <a:ext cx="3976270" cy="3095620"/>
          </a:xfrm>
          <a:prstGeom prst="rect">
            <a:avLst/>
          </a:prstGeom>
        </p:spPr>
      </p:pic>
      <p:pic>
        <p:nvPicPr>
          <p:cNvPr id="8" name="Picture 7">
            <a:extLst>
              <a:ext uri="{FF2B5EF4-FFF2-40B4-BE49-F238E27FC236}">
                <a16:creationId xmlns:a16="http://schemas.microsoft.com/office/drawing/2014/main" id="{4A9B5CD2-515E-8057-2454-368E334F68CB}"/>
              </a:ext>
            </a:extLst>
          </p:cNvPr>
          <p:cNvPicPr>
            <a:picLocks noChangeAspect="1"/>
          </p:cNvPicPr>
          <p:nvPr/>
        </p:nvPicPr>
        <p:blipFill>
          <a:blip r:embed="rId3"/>
          <a:stretch>
            <a:fillRect/>
          </a:stretch>
        </p:blipFill>
        <p:spPr>
          <a:xfrm>
            <a:off x="4544513" y="1324030"/>
            <a:ext cx="4208689" cy="2943923"/>
          </a:xfrm>
          <a:prstGeom prst="rect">
            <a:avLst/>
          </a:prstGeom>
        </p:spPr>
      </p:pic>
    </p:spTree>
    <p:extLst>
      <p:ext uri="{BB962C8B-B14F-4D97-AF65-F5344CB8AC3E}">
        <p14:creationId xmlns:p14="http://schemas.microsoft.com/office/powerpoint/2010/main" val="2433741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3"/>
          <p:cNvSpPr txBox="1">
            <a:spLocks noGrp="1"/>
          </p:cNvSpPr>
          <p:nvPr>
            <p:ph type="title"/>
          </p:nvPr>
        </p:nvSpPr>
        <p:spPr>
          <a:xfrm>
            <a:off x="521783" y="347512"/>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Multivariate Analysis: Freight Cost by Country, Mode &amp; Vendor</a:t>
            </a:r>
            <a:endParaRPr/>
          </a:p>
        </p:txBody>
      </p:sp>
      <p:pic>
        <p:nvPicPr>
          <p:cNvPr id="5" name="Picture 4">
            <a:extLst>
              <a:ext uri="{FF2B5EF4-FFF2-40B4-BE49-F238E27FC236}">
                <a16:creationId xmlns:a16="http://schemas.microsoft.com/office/drawing/2014/main" id="{098FFDE5-82C6-E8F3-5A02-F62D55A2900B}"/>
              </a:ext>
            </a:extLst>
          </p:cNvPr>
          <p:cNvPicPr>
            <a:picLocks noChangeAspect="1"/>
          </p:cNvPicPr>
          <p:nvPr/>
        </p:nvPicPr>
        <p:blipFill>
          <a:blip r:embed="rId3"/>
          <a:stretch>
            <a:fillRect/>
          </a:stretch>
        </p:blipFill>
        <p:spPr>
          <a:xfrm>
            <a:off x="521783" y="1302112"/>
            <a:ext cx="3367668" cy="3445985"/>
          </a:xfrm>
          <a:prstGeom prst="rect">
            <a:avLst/>
          </a:prstGeom>
        </p:spPr>
      </p:pic>
      <p:pic>
        <p:nvPicPr>
          <p:cNvPr id="7" name="Picture 6">
            <a:extLst>
              <a:ext uri="{FF2B5EF4-FFF2-40B4-BE49-F238E27FC236}">
                <a16:creationId xmlns:a16="http://schemas.microsoft.com/office/drawing/2014/main" id="{1EEC6CDE-E84F-B568-7E28-1560B596E52E}"/>
              </a:ext>
            </a:extLst>
          </p:cNvPr>
          <p:cNvPicPr>
            <a:picLocks noChangeAspect="1"/>
          </p:cNvPicPr>
          <p:nvPr/>
        </p:nvPicPr>
        <p:blipFill>
          <a:blip r:embed="rId4"/>
          <a:stretch>
            <a:fillRect/>
          </a:stretch>
        </p:blipFill>
        <p:spPr>
          <a:xfrm>
            <a:off x="4017579" y="1302112"/>
            <a:ext cx="4857400" cy="316694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3D4B7-70B0-FB60-CB2F-EB7251288F46}"/>
              </a:ext>
            </a:extLst>
          </p:cNvPr>
          <p:cNvSpPr>
            <a:spLocks noGrp="1"/>
          </p:cNvSpPr>
          <p:nvPr>
            <p:ph type="title"/>
          </p:nvPr>
        </p:nvSpPr>
        <p:spPr>
          <a:xfrm>
            <a:off x="484614" y="280605"/>
            <a:ext cx="7505700" cy="1466420"/>
          </a:xfrm>
        </p:spPr>
        <p:txBody>
          <a:bodyPr>
            <a:normAutofit fontScale="90000"/>
          </a:bodyPr>
          <a:lstStyle/>
          <a:p>
            <a:r>
              <a:rPr lang="en-GB"/>
              <a:t>Multivariate Analysis: Line Item Value In Comparison With  Freight Cost By Vendor And</a:t>
            </a:r>
            <a:br>
              <a:rPr lang="en-GB"/>
            </a:br>
            <a:r>
              <a:rPr lang="en-GB"/>
              <a:t>Shipment Mode</a:t>
            </a:r>
            <a:br>
              <a:rPr lang="en-GB"/>
            </a:br>
            <a:r>
              <a:rPr lang="en-GB"/>
              <a:t> </a:t>
            </a:r>
            <a:br>
              <a:rPr lang="en-GB"/>
            </a:br>
            <a:endParaRPr lang="en-IN"/>
          </a:p>
        </p:txBody>
      </p:sp>
      <p:pic>
        <p:nvPicPr>
          <p:cNvPr id="6" name="Picture 5">
            <a:extLst>
              <a:ext uri="{FF2B5EF4-FFF2-40B4-BE49-F238E27FC236}">
                <a16:creationId xmlns:a16="http://schemas.microsoft.com/office/drawing/2014/main" id="{F678B5A2-29BC-0654-79D2-CD603B777638}"/>
              </a:ext>
            </a:extLst>
          </p:cNvPr>
          <p:cNvPicPr>
            <a:picLocks noChangeAspect="1"/>
          </p:cNvPicPr>
          <p:nvPr/>
        </p:nvPicPr>
        <p:blipFill>
          <a:blip r:embed="rId2"/>
          <a:stretch>
            <a:fillRect/>
          </a:stretch>
        </p:blipFill>
        <p:spPr>
          <a:xfrm>
            <a:off x="659063" y="1747025"/>
            <a:ext cx="2411238" cy="3030994"/>
          </a:xfrm>
          <a:prstGeom prst="rect">
            <a:avLst/>
          </a:prstGeom>
        </p:spPr>
      </p:pic>
      <p:pic>
        <p:nvPicPr>
          <p:cNvPr id="8" name="Picture 7">
            <a:extLst>
              <a:ext uri="{FF2B5EF4-FFF2-40B4-BE49-F238E27FC236}">
                <a16:creationId xmlns:a16="http://schemas.microsoft.com/office/drawing/2014/main" id="{89072592-940D-27FB-73F0-878A3AD561BC}"/>
              </a:ext>
            </a:extLst>
          </p:cNvPr>
          <p:cNvPicPr>
            <a:picLocks noChangeAspect="1"/>
          </p:cNvPicPr>
          <p:nvPr/>
        </p:nvPicPr>
        <p:blipFill>
          <a:blip r:embed="rId3"/>
          <a:stretch>
            <a:fillRect/>
          </a:stretch>
        </p:blipFill>
        <p:spPr>
          <a:xfrm>
            <a:off x="3331886" y="1747024"/>
            <a:ext cx="5044519" cy="3030995"/>
          </a:xfrm>
          <a:prstGeom prst="rect">
            <a:avLst/>
          </a:prstGeom>
        </p:spPr>
      </p:pic>
    </p:spTree>
    <p:extLst>
      <p:ext uri="{BB962C8B-B14F-4D97-AF65-F5344CB8AC3E}">
        <p14:creationId xmlns:p14="http://schemas.microsoft.com/office/powerpoint/2010/main" val="4252859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3" name="Picture 2">
            <a:extLst>
              <a:ext uri="{FF2B5EF4-FFF2-40B4-BE49-F238E27FC236}">
                <a16:creationId xmlns:a16="http://schemas.microsoft.com/office/drawing/2014/main" id="{F59C468B-2E22-CBB7-2F53-C56D164E863F}"/>
              </a:ext>
            </a:extLst>
          </p:cNvPr>
          <p:cNvPicPr>
            <a:picLocks noChangeAspect="1"/>
          </p:cNvPicPr>
          <p:nvPr/>
        </p:nvPicPr>
        <p:blipFill>
          <a:blip r:embed="rId3"/>
          <a:stretch>
            <a:fillRect/>
          </a:stretch>
        </p:blipFill>
        <p:spPr>
          <a:xfrm>
            <a:off x="4379292" y="1458526"/>
            <a:ext cx="4048215" cy="3047884"/>
          </a:xfrm>
          <a:prstGeom prst="rect">
            <a:avLst/>
          </a:prstGeom>
        </p:spPr>
      </p:pic>
      <p:sp>
        <p:nvSpPr>
          <p:cNvPr id="211" name="Google Shape;211;p25"/>
          <p:cNvSpPr txBox="1">
            <a:spLocks noGrp="1"/>
          </p:cNvSpPr>
          <p:nvPr>
            <p:ph type="title"/>
          </p:nvPr>
        </p:nvSpPr>
        <p:spPr>
          <a:xfrm>
            <a:off x="625862" y="4180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Business Objective</a:t>
            </a:r>
            <a:endParaRPr/>
          </a:p>
        </p:txBody>
      </p:sp>
      <p:sp>
        <p:nvSpPr>
          <p:cNvPr id="212" name="Google Shape;212;p25"/>
          <p:cNvSpPr txBox="1">
            <a:spLocks noGrp="1"/>
          </p:cNvSpPr>
          <p:nvPr>
            <p:ph type="body" idx="1"/>
          </p:nvPr>
        </p:nvSpPr>
        <p:spPr>
          <a:xfrm>
            <a:off x="484613" y="1470760"/>
            <a:ext cx="3686100" cy="297486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Clr>
                <a:schemeClr val="dk1"/>
              </a:buClr>
              <a:buSzPct val="84615"/>
              <a:buFont typeface="Arial"/>
              <a:buNone/>
            </a:pPr>
            <a:r>
              <a:rPr lang="en-GB" sz="4400">
                <a:latin typeface="Times New Roman" panose="02020603050405020304" pitchFamily="18" charset="0"/>
                <a:cs typeface="Times New Roman" panose="02020603050405020304" pitchFamily="18" charset="0"/>
              </a:rPr>
              <a:t>To leverage exploratory data analysis and insights from FedEx delivery history to:</a:t>
            </a:r>
            <a:endParaRPr sz="4400">
              <a:latin typeface="Times New Roman" panose="02020603050405020304" pitchFamily="18" charset="0"/>
              <a:cs typeface="Times New Roman" panose="02020603050405020304" pitchFamily="18" charset="0"/>
            </a:endParaRPr>
          </a:p>
          <a:p>
            <a:pPr marL="0" lvl="0" indent="0" algn="l" rtl="0">
              <a:spcBef>
                <a:spcPts val="1200"/>
              </a:spcBef>
              <a:spcAft>
                <a:spcPts val="0"/>
              </a:spcAft>
              <a:buClr>
                <a:schemeClr val="dk1"/>
              </a:buClr>
              <a:buSzPct val="84615"/>
              <a:buFont typeface="Arial"/>
              <a:buNone/>
            </a:pPr>
            <a:endParaRPr sz="4400">
              <a:latin typeface="Times New Roman" panose="02020603050405020304" pitchFamily="18" charset="0"/>
              <a:cs typeface="Times New Roman" panose="02020603050405020304" pitchFamily="18" charset="0"/>
            </a:endParaRPr>
          </a:p>
          <a:p>
            <a:pPr marL="0" lvl="0" indent="0" algn="l" rtl="0">
              <a:spcBef>
                <a:spcPts val="1200"/>
              </a:spcBef>
              <a:spcAft>
                <a:spcPts val="0"/>
              </a:spcAft>
              <a:buClr>
                <a:schemeClr val="dk1"/>
              </a:buClr>
              <a:buSzPct val="84615"/>
              <a:buFont typeface="Arial"/>
              <a:buNone/>
            </a:pPr>
            <a:r>
              <a:rPr lang="en-GB" sz="4400">
                <a:latin typeface="Times New Roman" panose="02020603050405020304" pitchFamily="18" charset="0"/>
                <a:cs typeface="Times New Roman" panose="02020603050405020304" pitchFamily="18" charset="0"/>
              </a:rPr>
              <a:t>• Identify patterns in shipment volumes and delivery performance</a:t>
            </a:r>
            <a:endParaRPr sz="4400">
              <a:latin typeface="Times New Roman" panose="02020603050405020304" pitchFamily="18" charset="0"/>
              <a:cs typeface="Times New Roman" panose="02020603050405020304" pitchFamily="18" charset="0"/>
            </a:endParaRPr>
          </a:p>
          <a:p>
            <a:pPr marL="0" lvl="0" indent="0" algn="l" rtl="0">
              <a:spcBef>
                <a:spcPts val="1200"/>
              </a:spcBef>
              <a:spcAft>
                <a:spcPts val="0"/>
              </a:spcAft>
              <a:buClr>
                <a:schemeClr val="dk1"/>
              </a:buClr>
              <a:buSzPct val="84615"/>
              <a:buFont typeface="Arial"/>
              <a:buNone/>
            </a:pPr>
            <a:r>
              <a:rPr lang="en-GB" sz="4400">
                <a:latin typeface="Times New Roman" panose="02020603050405020304" pitchFamily="18" charset="0"/>
                <a:cs typeface="Times New Roman" panose="02020603050405020304" pitchFamily="18" charset="0"/>
              </a:rPr>
              <a:t>• Optimize freight costs across different transportation modes</a:t>
            </a:r>
            <a:endParaRPr sz="4400">
              <a:latin typeface="Times New Roman" panose="02020603050405020304" pitchFamily="18" charset="0"/>
              <a:cs typeface="Times New Roman" panose="02020603050405020304" pitchFamily="18" charset="0"/>
            </a:endParaRPr>
          </a:p>
          <a:p>
            <a:pPr marL="0" lvl="0" indent="0" algn="l" rtl="0">
              <a:spcBef>
                <a:spcPts val="1200"/>
              </a:spcBef>
              <a:spcAft>
                <a:spcPts val="0"/>
              </a:spcAft>
              <a:buClr>
                <a:schemeClr val="dk1"/>
              </a:buClr>
              <a:buSzPct val="84615"/>
              <a:buFont typeface="Arial"/>
              <a:buNone/>
            </a:pPr>
            <a:r>
              <a:rPr lang="en-GB" sz="4400">
                <a:latin typeface="Times New Roman" panose="02020603050405020304" pitchFamily="18" charset="0"/>
                <a:cs typeface="Times New Roman" panose="02020603050405020304" pitchFamily="18" charset="0"/>
              </a:rPr>
              <a:t>• Enhance resource allocation based on geographic and operational factors</a:t>
            </a:r>
            <a:endParaRPr sz="4400">
              <a:latin typeface="Times New Roman" panose="02020603050405020304" pitchFamily="18" charset="0"/>
              <a:cs typeface="Times New Roman" panose="02020603050405020304" pitchFamily="18" charset="0"/>
            </a:endParaRPr>
          </a:p>
          <a:p>
            <a:pPr marL="0" lvl="0" indent="0" algn="l" rtl="0">
              <a:spcBef>
                <a:spcPts val="1200"/>
              </a:spcBef>
              <a:spcAft>
                <a:spcPts val="0"/>
              </a:spcAft>
              <a:buClr>
                <a:schemeClr val="dk1"/>
              </a:buClr>
              <a:buSzPct val="84615"/>
              <a:buFont typeface="Arial"/>
              <a:buNone/>
            </a:pPr>
            <a:r>
              <a:rPr lang="en-GB" sz="4400">
                <a:latin typeface="Times New Roman" panose="02020603050405020304" pitchFamily="18" charset="0"/>
                <a:cs typeface="Times New Roman" panose="02020603050405020304" pitchFamily="18" charset="0"/>
              </a:rPr>
              <a:t>• Develop data-driven recommendations for improving logistics efficiency</a:t>
            </a:r>
            <a:endParaRPr sz="4400">
              <a:latin typeface="Times New Roman" panose="02020603050405020304" pitchFamily="18" charset="0"/>
              <a:cs typeface="Times New Roman" panose="02020603050405020304" pitchFamily="18" charset="0"/>
            </a:endParaRPr>
          </a:p>
          <a:p>
            <a:pPr marL="0" lvl="0" indent="0" algn="l" rtl="0">
              <a:spcBef>
                <a:spcPts val="1200"/>
              </a:spcBef>
              <a:spcAft>
                <a:spcPts val="0"/>
              </a:spcAft>
              <a:buClr>
                <a:schemeClr val="dk1"/>
              </a:buClr>
              <a:buSzPct val="84615"/>
              <a:buFont typeface="Arial"/>
              <a:buNone/>
            </a:pPr>
            <a:r>
              <a:rPr lang="en-GB" sz="4400">
                <a:latin typeface="Times New Roman" panose="02020603050405020304" pitchFamily="18" charset="0"/>
                <a:cs typeface="Times New Roman" panose="02020603050405020304" pitchFamily="18" charset="0"/>
              </a:rPr>
              <a:t>• Enable strategic decision-making for vendor management and cost reduction</a:t>
            </a:r>
            <a:endParaRPr sz="4400">
              <a:latin typeface="Times New Roman" panose="02020603050405020304" pitchFamily="18" charset="0"/>
              <a:cs typeface="Times New Roman" panose="02020603050405020304" pitchFamily="18" charset="0"/>
            </a:endParaRPr>
          </a:p>
          <a:p>
            <a:pPr marL="0" lvl="0" indent="0" algn="l" rtl="0">
              <a:spcBef>
                <a:spcPts val="1200"/>
              </a:spcBef>
              <a:spcAft>
                <a:spcPts val="120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6" name="Picture 5">
            <a:extLst>
              <a:ext uri="{FF2B5EF4-FFF2-40B4-BE49-F238E27FC236}">
                <a16:creationId xmlns:a16="http://schemas.microsoft.com/office/drawing/2014/main" id="{59AEC41C-6698-5DF8-4ACB-B804A725BF6B}"/>
              </a:ext>
            </a:extLst>
          </p:cNvPr>
          <p:cNvPicPr>
            <a:picLocks noChangeAspect="1"/>
          </p:cNvPicPr>
          <p:nvPr/>
        </p:nvPicPr>
        <p:blipFill>
          <a:blip r:embed="rId3"/>
          <a:stretch>
            <a:fillRect/>
          </a:stretch>
        </p:blipFill>
        <p:spPr>
          <a:xfrm>
            <a:off x="5335860" y="1556087"/>
            <a:ext cx="3111190" cy="2333393"/>
          </a:xfrm>
          <a:prstGeom prst="rect">
            <a:avLst/>
          </a:prstGeom>
        </p:spPr>
      </p:pic>
      <p:sp>
        <p:nvSpPr>
          <p:cNvPr id="295" name="Google Shape;295;p37"/>
          <p:cNvSpPr txBox="1">
            <a:spLocks noGrp="1"/>
          </p:cNvSpPr>
          <p:nvPr>
            <p:ph type="title"/>
          </p:nvPr>
        </p:nvSpPr>
        <p:spPr>
          <a:xfrm>
            <a:off x="408878" y="845600"/>
            <a:ext cx="2206547" cy="529717"/>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 </a:t>
            </a:r>
            <a:endParaRPr/>
          </a:p>
        </p:txBody>
      </p:sp>
      <p:sp>
        <p:nvSpPr>
          <p:cNvPr id="4" name="TextBox 3">
            <a:extLst>
              <a:ext uri="{FF2B5EF4-FFF2-40B4-BE49-F238E27FC236}">
                <a16:creationId xmlns:a16="http://schemas.microsoft.com/office/drawing/2014/main" id="{AE38428D-41B5-6706-84CA-6336EC1ADB85}"/>
              </a:ext>
            </a:extLst>
          </p:cNvPr>
          <p:cNvSpPr txBox="1"/>
          <p:nvPr/>
        </p:nvSpPr>
        <p:spPr>
          <a:xfrm>
            <a:off x="408878" y="1556087"/>
            <a:ext cx="4631474" cy="2031325"/>
          </a:xfrm>
          <a:prstGeom prst="rect">
            <a:avLst/>
          </a:prstGeom>
          <a:noFill/>
        </p:spPr>
        <p:txBody>
          <a:bodyPr wrap="square" rtlCol="0">
            <a:spAutoFit/>
          </a:bodyPr>
          <a:lstStyle/>
          <a:p>
            <a:pPr algn="just"/>
            <a:r>
              <a:rPr lang="en-US">
                <a:latin typeface="Times New Roman" panose="02020603050405020304" pitchFamily="18" charset="0"/>
                <a:cs typeface="Times New Roman" panose="02020603050405020304" pitchFamily="18" charset="0"/>
              </a:rPr>
              <a:t>This comprehensive analysis provides FedEx Logistics with actionable insights into their operations. By identifying the key factors driving costs, delays, and vendor performance, the company can implement targeted improvements to optimize its global supply chain. The univariate, bivariate, and multivariate analyses collectively offer a holistic understanding of the logistics landscape, enabling FedEx to enhance efficiency, reduce costs, and improve customer satisfaction across its operations</a:t>
            </a:r>
            <a:r>
              <a:rPr lang="en-US" sz="1200"/>
              <a:t>.</a:t>
            </a:r>
            <a:endParaRPr lang="en-IN"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A45100E-2FB9-DA56-3945-1857D9D54F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976" y="484241"/>
            <a:ext cx="5984488" cy="4175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975096"/>
      </p:ext>
    </p:extLst>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668</Words>
  <Application>Microsoft Office PowerPoint</Application>
  <PresentationFormat>On-screen Show (16:9)</PresentationFormat>
  <Paragraphs>60</Paragraphs>
  <Slides>31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Calibri</vt:lpstr>
      <vt:lpstr>Arial</vt:lpstr>
      <vt:lpstr>Nunito</vt:lpstr>
      <vt:lpstr>Times New Roman</vt:lpstr>
      <vt:lpstr>Shift</vt:lpstr>
      <vt:lpstr>FedEx Logistics Performance Analysis - Delivery History Dataset</vt:lpstr>
      <vt:lpstr>INTRODUCTION</vt:lpstr>
      <vt:lpstr>DATASET OVERVIEW</vt:lpstr>
      <vt:lpstr>PROBLEM STATEMENT</vt:lpstr>
      <vt:lpstr>READING DATASET</vt:lpstr>
      <vt:lpstr>DATA SET</vt:lpstr>
      <vt:lpstr>Dataset Rows and Columns Count</vt:lpstr>
      <vt:lpstr>CHECK DATA STRUCTURE </vt:lpstr>
      <vt:lpstr>CLEANING  VARIABLES </vt:lpstr>
      <vt:lpstr>PowerPoint Presentation</vt:lpstr>
      <vt:lpstr>DATA WRANGLING</vt:lpstr>
      <vt:lpstr>CLEANING DATATYPES</vt:lpstr>
      <vt:lpstr>PowerPoint Presentation</vt:lpstr>
      <vt:lpstr>PowerPoint Presentation</vt:lpstr>
      <vt:lpstr>IDENTIFY MISSING VALUES</vt:lpstr>
      <vt:lpstr>PowerPoint Presentation</vt:lpstr>
      <vt:lpstr>Analysis Approach: Univariate, Bivariate &amp; Multivariate</vt:lpstr>
      <vt:lpstr>Univariate Analysis: Count  Of Shippment By  Country</vt:lpstr>
      <vt:lpstr>Univariate Analysis: Distribution Of Shippment Modes  </vt:lpstr>
      <vt:lpstr>Univariate Analysis: Average Freight Cost</vt:lpstr>
      <vt:lpstr>Univariate Analysis: Line Item Quantity Distribution </vt:lpstr>
      <vt:lpstr>Univariate Analysis: Vendors With Highest Orders </vt:lpstr>
      <vt:lpstr>Bivariate Analysis: Delivery Delay  By Shipment Mode</vt:lpstr>
      <vt:lpstr>Bivariate Analysis: Total Shipments Over Time </vt:lpstr>
      <vt:lpstr>Bivariate Analysis: Freight Cost In Comparison To Weight </vt:lpstr>
      <vt:lpstr>Bivariate Analysis: Shipment Mode In Comparison To Freight  Cost </vt:lpstr>
      <vt:lpstr>Multivariate Analysis: Freight Cost by Country, Mode &amp; Vendor</vt:lpstr>
      <vt:lpstr>Multivariate Analysis: Line Item Value In Comparison With  Freight Cost By Vendor And Shipment Mode   </vt:lpstr>
      <vt:lpstr>Business Objective</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TEJA</dc:creator>
  <cp:lastModifiedBy>Kandukuri Thanu Sri</cp:lastModifiedBy>
  <cp:revision>2</cp:revision>
  <dcterms:modified xsi:type="dcterms:W3CDTF">2026-01-03T07:29:33Z</dcterms:modified>
</cp:coreProperties>
</file>